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Nunito"/>
      <p:regular r:id="rId20"/>
      <p:bold r:id="rId21"/>
      <p:italic r:id="rId22"/>
      <p:boldItalic r:id="rId23"/>
    </p:embeddedFont>
    <p:embeddedFont>
      <p:font typeface="Quicksand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regular.fntdata"/><Relationship Id="rId22" Type="http://schemas.openxmlformats.org/officeDocument/2006/relationships/font" Target="fonts/Nunito-italic.fntdata"/><Relationship Id="rId21" Type="http://schemas.openxmlformats.org/officeDocument/2006/relationships/font" Target="fonts/Nunito-bold.fntdata"/><Relationship Id="rId24" Type="http://schemas.openxmlformats.org/officeDocument/2006/relationships/font" Target="fonts/Quicksand-regular.fntdata"/><Relationship Id="rId23" Type="http://schemas.openxmlformats.org/officeDocument/2006/relationships/font" Target="fonts/Nuni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Quicksan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e7fc7de9044feb4_0_1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he7fc7de9044feb4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he7fc7de9044feb4_0_7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he7fc7de9044feb4_0_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he7fc7de9044feb4_0_14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he7fc7de9044feb4_0_1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he7fc7de9044feb4_0_16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he7fc7de9044feb4_0_1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he7fc7de9044feb4_0_2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he7fc7de9044feb4_0_2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e7fc7de9044feb4_22_0)">
  <p:cSld name="Generated (he7fc7de9044feb4_22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7" Type="http://schemas.openxmlformats.org/officeDocument/2006/relationships/image" Target="../media/image9.png"/><Relationship Id="rId8" Type="http://schemas.openxmlformats.org/officeDocument/2006/relationships/image" Target="../media/image2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29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15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27.png"/><Relationship Id="rId7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Relationship Id="rId5" Type="http://schemas.openxmlformats.org/officeDocument/2006/relationships/image" Target="../media/image19.png"/><Relationship Id="rId6" Type="http://schemas.openxmlformats.org/officeDocument/2006/relationships/image" Target="../media/image22.png"/><Relationship Id="rId7" Type="http://schemas.openxmlformats.org/officeDocument/2006/relationships/image" Target="../media/image28.png"/><Relationship Id="rId8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32.gif"/><Relationship Id="rId5" Type="http://schemas.openxmlformats.org/officeDocument/2006/relationships/image" Target="../media/image33.gif"/><Relationship Id="rId6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30.png"/><Relationship Id="rId5" Type="http://schemas.openxmlformats.org/officeDocument/2006/relationships/image" Target="../media/image21.png"/><Relationship Id="rId6" Type="http://schemas.openxmlformats.org/officeDocument/2006/relationships/image" Target="../media/image37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Relationship Id="rId4" Type="http://schemas.openxmlformats.org/officeDocument/2006/relationships/image" Target="../media/image35.png"/><Relationship Id="rId5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9F5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/>
          <p:nvPr/>
        </p:nvSpPr>
        <p:spPr>
          <a:xfrm>
            <a:off x="723900" y="6200775"/>
            <a:ext cx="107442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10315575" y="571500"/>
            <a:ext cx="1152525" cy="266700"/>
          </a:xfrm>
          <a:prstGeom prst="roundRect">
            <a:avLst>
              <a:gd fmla="val 50000" name="adj"/>
            </a:avLst>
          </a:prstGeom>
          <a:solidFill>
            <a:srgbClr val="F5EB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723900" y="3967058"/>
            <a:ext cx="10744200" cy="1152600"/>
          </a:xfrm>
          <a:prstGeom prst="roundRect">
            <a:avLst>
              <a:gd fmla="val 16528" name="adj"/>
            </a:avLst>
          </a:prstGeom>
          <a:solidFill>
            <a:srgbClr val="F2EDE4"/>
          </a:solidFill>
          <a:ln cap="flat" cmpd="sng" w="9525">
            <a:solidFill>
              <a:srgbClr val="E3D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723900" y="3109458"/>
            <a:ext cx="38100" cy="4383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723900" y="6200775"/>
            <a:ext cx="10744200" cy="9525"/>
          </a:xfrm>
          <a:prstGeom prst="rect">
            <a:avLst/>
          </a:prstGeom>
          <a:solidFill>
            <a:srgbClr val="E3DE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1552575" y="4533795"/>
            <a:ext cx="1214400" cy="19200"/>
          </a:xfrm>
          <a:prstGeom prst="rect">
            <a:avLst/>
          </a:prstGeom>
          <a:solidFill>
            <a:srgbClr val="DCD7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3614737" y="4533795"/>
            <a:ext cx="1214400" cy="19200"/>
          </a:xfrm>
          <a:prstGeom prst="rect">
            <a:avLst/>
          </a:prstGeom>
          <a:solidFill>
            <a:srgbClr val="DCD7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4924425" y="4214708"/>
            <a:ext cx="2543100" cy="657300"/>
          </a:xfrm>
          <a:prstGeom prst="roundRect">
            <a:avLst>
              <a:gd fmla="val 23188" name="adj"/>
            </a:avLst>
          </a:prstGeom>
          <a:solidFill>
            <a:srgbClr val="FFFFFF"/>
          </a:solidFill>
          <a:ln cap="flat" cmpd="sng" w="19050">
            <a:solidFill>
              <a:srgbClr val="BC6C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7562850" y="4533795"/>
            <a:ext cx="1214400" cy="19200"/>
          </a:xfrm>
          <a:prstGeom prst="rect">
            <a:avLst/>
          </a:prstGeom>
          <a:solidFill>
            <a:srgbClr val="DCD7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9386887" y="4533795"/>
            <a:ext cx="1214400" cy="19200"/>
          </a:xfrm>
          <a:prstGeom prst="rect">
            <a:avLst/>
          </a:prstGeom>
          <a:solidFill>
            <a:srgbClr val="DCD7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" y="457200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8225" y="4205183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81325" y="4205183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33975" y="4419495"/>
            <a:ext cx="1905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72537" y="4205183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15625" y="4205183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62050" y="4329008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081337" y="4329008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972550" y="4329008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815637" y="4329008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457825" y="4586183"/>
            <a:ext cx="13335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10448925" y="628650"/>
            <a:ext cx="9810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C6C25"/>
                </a:solidFill>
                <a:latin typeface="Nunito"/>
                <a:ea typeface="Nunito"/>
                <a:cs typeface="Nunito"/>
                <a:sym typeface="Nunito"/>
              </a:rPr>
              <a:t>DPIIT Pitch Deck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23900" y="1744116"/>
            <a:ext cx="10601400" cy="11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rPr>
              <a:t>AI is the future. Everyone should be able to use it, even with no internet.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95350" y="3223758"/>
            <a:ext cx="8325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E7D32"/>
                </a:solidFill>
                <a:latin typeface="Nunito"/>
                <a:ea typeface="Nunito"/>
                <a:cs typeface="Nunito"/>
                <a:sym typeface="Nunito"/>
              </a:rPr>
              <a:t>Registered partnership firm, Andhra Pradesh | Applying for Startup India (DPIIT) recognition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723900" y="6324600"/>
            <a:ext cx="18811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07D74"/>
                </a:solidFill>
                <a:latin typeface="Nunito"/>
                <a:ea typeface="Nunito"/>
                <a:cs typeface="Nunito"/>
                <a:sym typeface="Nunito"/>
              </a:rPr>
              <a:t>VYOMAA LABS | PocketMind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1182350" y="6324600"/>
            <a:ext cx="571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07D74"/>
                </a:solidFill>
                <a:latin typeface="Nunito"/>
                <a:ea typeface="Nunito"/>
                <a:cs typeface="Nunito"/>
                <a:sym typeface="Nunito"/>
              </a:rPr>
              <a:t>1 / 12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371600" y="500062"/>
            <a:ext cx="371296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rPr>
              <a:t>VYOMAA LABS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371600" y="738187"/>
            <a:ext cx="3536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C6B60"/>
                </a:solidFill>
                <a:latin typeface="Nunito"/>
                <a:ea typeface="Nunito"/>
                <a:cs typeface="Nunito"/>
                <a:sym typeface="Nunito"/>
              </a:rPr>
              <a:t>PocketMind: </a:t>
            </a:r>
            <a:r>
              <a:rPr lang="en-US" sz="975">
                <a:solidFill>
                  <a:srgbClr val="5C6B60"/>
                </a:solidFill>
                <a:latin typeface="Nunito"/>
                <a:ea typeface="Nunito"/>
                <a:cs typeface="Nunito"/>
                <a:sym typeface="Nunito"/>
              </a:rPr>
              <a:t>AI in the palm of all indians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1090612" y="4700483"/>
            <a:ext cx="600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B4740"/>
                </a:solidFill>
                <a:latin typeface="Nunito"/>
                <a:ea typeface="Nunito"/>
                <a:cs typeface="Nunito"/>
                <a:sym typeface="Nunito"/>
              </a:rPr>
              <a:t>Field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2862262" y="4700483"/>
            <a:ext cx="942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B4740"/>
                </a:solidFill>
                <a:latin typeface="Nunito"/>
                <a:ea typeface="Nunito"/>
                <a:cs typeface="Nunito"/>
                <a:sym typeface="Nunito"/>
              </a:rPr>
              <a:t>Classroom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8905875" y="4700483"/>
            <a:ext cx="638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B4740"/>
                </a:solidFill>
                <a:latin typeface="Nunito"/>
                <a:ea typeface="Nunito"/>
                <a:cs typeface="Nunito"/>
                <a:sym typeface="Nunito"/>
              </a:rPr>
              <a:t>Clinic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0696575" y="4700483"/>
            <a:ext cx="743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B4740"/>
                </a:solidFill>
                <a:latin typeface="Nunito"/>
                <a:ea typeface="Nunito"/>
                <a:cs typeface="Nunito"/>
                <a:sym typeface="Nunito"/>
              </a:rPr>
              <a:t>Vehicle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5457825" y="4367108"/>
            <a:ext cx="2250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324"/>
                </a:solidFill>
                <a:latin typeface="Nunito"/>
                <a:ea typeface="Nunito"/>
                <a:cs typeface="Nunito"/>
                <a:sym typeface="Nunito"/>
              </a:rPr>
              <a:t>PocketMind on-device AI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5457825" y="4567133"/>
            <a:ext cx="2250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86641"/>
                </a:solidFill>
                <a:latin typeface="Nunito"/>
                <a:ea typeface="Nunito"/>
                <a:cs typeface="Nunito"/>
                <a:sym typeface="Nunito"/>
              </a:rPr>
              <a:t>Airplane mode: no internet used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9F5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/>
          <p:nvPr/>
        </p:nvSpPr>
        <p:spPr>
          <a:xfrm>
            <a:off x="723900" y="5946196"/>
            <a:ext cx="107442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6787480" y="1443930"/>
            <a:ext cx="4680600" cy="4566300"/>
          </a:xfrm>
          <a:prstGeom prst="roundRect">
            <a:avLst>
              <a:gd fmla="val 4171" name="adj"/>
            </a:avLst>
          </a:prstGeom>
          <a:solidFill>
            <a:srgbClr val="F2EDE4"/>
          </a:solidFill>
          <a:ln cap="flat" cmpd="sng" w="9525">
            <a:solidFill>
              <a:srgbClr val="E3D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723900" y="1634430"/>
            <a:ext cx="5720655" cy="777180"/>
          </a:xfrm>
          <a:prstGeom prst="roundRect">
            <a:avLst>
              <a:gd fmla="val 17158" name="adj"/>
            </a:avLst>
          </a:prstGeom>
          <a:solidFill>
            <a:srgbClr val="F2EDE4"/>
          </a:solidFill>
          <a:ln cap="flat" cmpd="sng" w="9525">
            <a:solidFill>
              <a:srgbClr val="E3D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723900" y="2744910"/>
            <a:ext cx="5720700" cy="777300"/>
          </a:xfrm>
          <a:prstGeom prst="roundRect">
            <a:avLst>
              <a:gd fmla="val 17158" name="adj"/>
            </a:avLst>
          </a:prstGeom>
          <a:solidFill>
            <a:srgbClr val="F2EDE4"/>
          </a:solidFill>
          <a:ln cap="flat" cmpd="sng" w="9525">
            <a:solidFill>
              <a:srgbClr val="E3D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723900" y="3965323"/>
            <a:ext cx="5720700" cy="777300"/>
          </a:xfrm>
          <a:prstGeom prst="roundRect">
            <a:avLst>
              <a:gd fmla="val 17158" name="adj"/>
            </a:avLst>
          </a:prstGeom>
          <a:solidFill>
            <a:srgbClr val="F2EDE4"/>
          </a:solidFill>
          <a:ln cap="flat" cmpd="sng" w="9525">
            <a:solidFill>
              <a:srgbClr val="E3D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723900" y="5168717"/>
            <a:ext cx="5720700" cy="777300"/>
          </a:xfrm>
          <a:prstGeom prst="roundRect">
            <a:avLst>
              <a:gd fmla="val 17158" name="adj"/>
            </a:avLst>
          </a:prstGeom>
          <a:solidFill>
            <a:srgbClr val="F2EDE4"/>
          </a:solidFill>
          <a:ln cap="flat" cmpd="sng" w="9525">
            <a:solidFill>
              <a:srgbClr val="E3D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7063605" y="5029238"/>
            <a:ext cx="41283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10315575" y="1967805"/>
            <a:ext cx="876300" cy="285750"/>
          </a:xfrm>
          <a:prstGeom prst="roundRect">
            <a:avLst>
              <a:gd fmla="val 26666" name="adj"/>
            </a:avLst>
          </a:prstGeom>
          <a:solidFill>
            <a:srgbClr val="D6D9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7063680" y="5324475"/>
            <a:ext cx="4128194" cy="9525"/>
          </a:xfrm>
          <a:prstGeom prst="rect">
            <a:avLst/>
          </a:prstGeom>
          <a:solidFill>
            <a:srgbClr val="E3DE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10258350" y="5286413"/>
            <a:ext cx="933600" cy="285900"/>
          </a:xfrm>
          <a:prstGeom prst="roundRect">
            <a:avLst>
              <a:gd fmla="val 26666" name="adj"/>
            </a:avLst>
          </a:prstGeom>
          <a:solidFill>
            <a:srgbClr val="EADA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3" name="Google Shape;13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5227" y="3841402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3925" y="184398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3925" y="2954460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3925" y="4174873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3925" y="5378267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63680" y="1977330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5"/>
          <p:cNvPicPr preferRelativeResize="0"/>
          <p:nvPr/>
        </p:nvPicPr>
        <p:blipFill rotWithShape="1">
          <a:blip r:embed="rId9">
            <a:alphaModFix/>
          </a:blip>
          <a:srcRect b="338" l="0" r="0" t="348"/>
          <a:stretch/>
        </p:blipFill>
        <p:spPr>
          <a:xfrm>
            <a:off x="7063605" y="5295938"/>
            <a:ext cx="333374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 txBox="1"/>
          <p:nvPr/>
        </p:nvSpPr>
        <p:spPr>
          <a:xfrm>
            <a:off x="723900" y="457200"/>
            <a:ext cx="11468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BC6C25"/>
                </a:solidFill>
                <a:latin typeface="Quicksand"/>
                <a:ea typeface="Quicksand"/>
                <a:cs typeface="Quicksand"/>
                <a:sym typeface="Quicksand"/>
              </a:rPr>
              <a:t>THE PROBLEM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723900" y="666750"/>
            <a:ext cx="11381422" cy="7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rPr>
              <a:t>Every job will use AI. You learn it by using it. Not everyone in India can.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723900" y="6324600"/>
            <a:ext cx="18811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07D74"/>
                </a:solidFill>
                <a:latin typeface="Nunito"/>
                <a:ea typeface="Nunito"/>
                <a:cs typeface="Nunito"/>
                <a:sym typeface="Nunito"/>
              </a:rPr>
              <a:t>VYOMAA LABS | PocketMind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11182350" y="6324600"/>
            <a:ext cx="571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07D74"/>
                </a:solidFill>
                <a:latin typeface="Nunito"/>
                <a:ea typeface="Nunito"/>
                <a:cs typeface="Nunito"/>
                <a:sym typeface="Nunito"/>
              </a:rPr>
              <a:t>2 / 12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6814356" y="3812827"/>
            <a:ext cx="4893543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C6C25"/>
                </a:solidFill>
                <a:latin typeface="Nunito"/>
                <a:ea typeface="Nunito"/>
                <a:cs typeface="Nunito"/>
                <a:sym typeface="Nunito"/>
              </a:rPr>
              <a:t>Bridged by the PocketMind engine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1228725" y="1796355"/>
            <a:ext cx="5111055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B4740"/>
                </a:solidFill>
                <a:latin typeface="Nunito"/>
                <a:ea typeface="Nunito"/>
                <a:cs typeface="Nunito"/>
                <a:sym typeface="Nunito"/>
              </a:rPr>
              <a:t>Human-guided AI:</a:t>
            </a:r>
            <a:r>
              <a:rPr b="0" i="0" lang="en-US" sz="1275" u="none" cap="none" strike="noStrike">
                <a:solidFill>
                  <a:srgbClr val="3B4740"/>
                </a:solidFill>
                <a:latin typeface="Nunito"/>
                <a:ea typeface="Nunito"/>
                <a:cs typeface="Nunito"/>
                <a:sym typeface="Nunito"/>
              </a:rPr>
              <a:t> AI is becoming part of every job, with people guiding it. People learn it by doing.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1276350" y="2906835"/>
            <a:ext cx="50634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B4740"/>
                </a:solidFill>
                <a:latin typeface="Nunito"/>
                <a:ea typeface="Nunito"/>
                <a:cs typeface="Nunito"/>
                <a:sym typeface="Nunito"/>
              </a:rPr>
              <a:t>Cloud barriers:</a:t>
            </a:r>
            <a:r>
              <a:rPr b="0" i="0" lang="en-US" sz="1275" u="none" cap="none" strike="noStrike">
                <a:solidFill>
                  <a:srgbClr val="3B4740"/>
                </a:solidFill>
                <a:latin typeface="Nunito"/>
                <a:ea typeface="Nunito"/>
                <a:cs typeface="Nunito"/>
                <a:sym typeface="Nunito"/>
              </a:rPr>
              <a:t> Cloud AI needs reliable internet and charges for every query.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1228725" y="4127248"/>
            <a:ext cx="51111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B4740"/>
                </a:solidFill>
                <a:latin typeface="Nunito"/>
                <a:ea typeface="Nunito"/>
                <a:cs typeface="Nunito"/>
                <a:sym typeface="Nunito"/>
              </a:rPr>
              <a:t>Connectivity gap:</a:t>
            </a:r>
            <a:r>
              <a:rPr b="0" i="0" lang="en-US" sz="1275" u="none" cap="none" strike="noStrike">
                <a:solidFill>
                  <a:srgbClr val="3B4740"/>
                </a:solidFill>
                <a:latin typeface="Nunito"/>
                <a:ea typeface="Nunito"/>
                <a:cs typeface="Nunito"/>
                <a:sym typeface="Nunito"/>
              </a:rPr>
              <a:t> Over a third of Indian schools have no internet (UDISE+ 2024-25: 63.5% connected).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1228725" y="5330642"/>
            <a:ext cx="51111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B4740"/>
                </a:solidFill>
                <a:latin typeface="Nunito"/>
                <a:ea typeface="Nunito"/>
                <a:cs typeface="Nunito"/>
                <a:sym typeface="Nunito"/>
              </a:rPr>
              <a:t>Farm scale:</a:t>
            </a:r>
            <a:r>
              <a:rPr b="0" i="0" lang="en-US" sz="1275" u="none" cap="none" strike="noStrike">
                <a:solidFill>
                  <a:srgbClr val="3B4740"/>
                </a:solidFill>
                <a:latin typeface="Nunito"/>
                <a:ea typeface="Nunito"/>
                <a:cs typeface="Nunito"/>
                <a:sym typeface="Nunito"/>
              </a:rPr>
              <a:t> About 86% of Indian farm holdings are small or marginal (Agriculture Census 2015-16).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10448925" y="2024955"/>
            <a:ext cx="7048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86641"/>
                </a:solidFill>
                <a:latin typeface="Nunito"/>
                <a:ea typeface="Nunito"/>
                <a:cs typeface="Nunito"/>
                <a:sym typeface="Nunito"/>
              </a:rPr>
              <a:t>Always on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10391700" y="5343563"/>
            <a:ext cx="762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Nunito"/>
                <a:ea typeface="Nunito"/>
                <a:cs typeface="Nunito"/>
                <a:sym typeface="Nunito"/>
              </a:rPr>
              <a:t>Offline first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7530405" y="1910655"/>
            <a:ext cx="217884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3324"/>
                </a:solidFill>
                <a:latin typeface="Nunito"/>
                <a:ea typeface="Nunito"/>
                <a:cs typeface="Nunito"/>
                <a:sym typeface="Nunito"/>
              </a:rPr>
              <a:t>Connected city phone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7530405" y="2129730"/>
            <a:ext cx="217884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C6B60"/>
                </a:solidFill>
                <a:latin typeface="Nunito"/>
                <a:ea typeface="Nunito"/>
                <a:cs typeface="Nunito"/>
                <a:sym typeface="Nunito"/>
              </a:rPr>
              <a:t>High bandwidth, costly cloud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7530330" y="5229263"/>
            <a:ext cx="20001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3324"/>
                </a:solidFill>
                <a:latin typeface="Nunito"/>
                <a:ea typeface="Nunito"/>
                <a:cs typeface="Nunito"/>
                <a:sym typeface="Nunito"/>
              </a:rPr>
              <a:t>Village phone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7530330" y="5448338"/>
            <a:ext cx="200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C6B60"/>
                </a:solidFill>
                <a:latin typeface="Nunito"/>
                <a:ea typeface="Nunito"/>
                <a:cs typeface="Nunito"/>
                <a:sym typeface="Nunito"/>
              </a:rPr>
              <a:t>No signal, no cloud budget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"/>
          <p:cNvSpPr txBox="1"/>
          <p:nvPr/>
        </p:nvSpPr>
        <p:spPr>
          <a:xfrm>
            <a:off x="723900" y="381000"/>
            <a:ext cx="10744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BC6C25"/>
                </a:solidFill>
                <a:latin typeface="Quicksand"/>
                <a:ea typeface="Quicksand"/>
                <a:cs typeface="Quicksand"/>
                <a:sym typeface="Quicksand"/>
              </a:rPr>
              <a:t>HOW IT WORKS</a:t>
            </a:r>
            <a:endParaRPr b="1" sz="975">
              <a:solidFill>
                <a:srgbClr val="BC6C2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723900" y="590550"/>
            <a:ext cx="10744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rPr>
              <a:t>Grounded by design, not by hope.</a:t>
            </a:r>
            <a:endParaRPr b="1" sz="2550">
              <a:solidFill>
                <a:srgbClr val="1E3324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723900" y="1352550"/>
            <a:ext cx="10744200" cy="1285800"/>
          </a:xfrm>
          <a:prstGeom prst="roundRect">
            <a:avLst>
              <a:gd fmla="val 11851" name="adj"/>
            </a:avLst>
          </a:prstGeom>
          <a:solidFill>
            <a:srgbClr val="F2EDE4"/>
          </a:solidFill>
          <a:ln cap="flat" cmpd="sng" w="9525">
            <a:solidFill>
              <a:srgbClr val="E3D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895350" y="1476375"/>
            <a:ext cx="1038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C6C25"/>
                </a:solidFill>
                <a:latin typeface="Nunito"/>
                <a:ea typeface="Nunito"/>
                <a:cs typeface="Nunito"/>
                <a:sym typeface="Nunito"/>
              </a:rPr>
              <a:t>LANGUAGE LAYER</a:t>
            </a:r>
            <a:endParaRPr b="1" sz="1050">
              <a:solidFill>
                <a:srgbClr val="BC6C2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63" name="Google Shape;163;p16"/>
          <p:cNvGrpSpPr/>
          <p:nvPr/>
        </p:nvGrpSpPr>
        <p:grpSpPr>
          <a:xfrm>
            <a:off x="895350" y="1762125"/>
            <a:ext cx="10153800" cy="647700"/>
            <a:chOff x="0" y="0"/>
            <a:chExt cx="10153800" cy="647700"/>
          </a:xfrm>
        </p:grpSpPr>
        <p:sp>
          <p:nvSpPr>
            <p:cNvPr id="164" name="Google Shape;164;p16"/>
            <p:cNvSpPr/>
            <p:nvPr/>
          </p:nvSpPr>
          <p:spPr>
            <a:xfrm>
              <a:off x="0" y="0"/>
              <a:ext cx="1771800" cy="647700"/>
            </a:xfrm>
            <a:prstGeom prst="roundRect">
              <a:avLst>
                <a:gd fmla="val 14705" name="adj"/>
              </a:avLst>
            </a:prstGeom>
            <a:solidFill>
              <a:srgbClr val="FFFFFF"/>
            </a:solidFill>
            <a:ln cap="flat" cmpd="sng" w="9525">
              <a:solidFill>
                <a:srgbClr val="E3DEC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6"/>
            <p:cNvSpPr txBox="1"/>
            <p:nvPr/>
          </p:nvSpPr>
          <p:spPr>
            <a:xfrm>
              <a:off x="0" y="0"/>
              <a:ext cx="17718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76200" spcFirstLastPara="1" rIns="762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75">
                  <a:solidFill>
                    <a:srgbClr val="1E3324"/>
                  </a:solidFill>
                  <a:latin typeface="Nunito"/>
                  <a:ea typeface="Nunito"/>
                  <a:cs typeface="Nunito"/>
                  <a:sym typeface="Nunito"/>
                </a:rPr>
                <a:t>Speak or type in any 9* Indian language</a:t>
              </a:r>
              <a:endParaRPr b="1" sz="975">
                <a:solidFill>
                  <a:srgbClr val="1E3324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pic>
          <p:nvPicPr>
            <p:cNvPr id="166" name="Google Shape;166;p16"/>
            <p:cNvPicPr preferRelativeResize="0"/>
            <p:nvPr/>
          </p:nvPicPr>
          <p:blipFill rotWithShape="1">
            <a:blip r:embed="rId4">
              <a:alphaModFix/>
            </a:blip>
            <a:srcRect b="0" l="475" r="475" t="0"/>
            <a:stretch/>
          </p:blipFill>
          <p:spPr>
            <a:xfrm>
              <a:off x="1866900" y="247650"/>
              <a:ext cx="123900" cy="14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" name="Google Shape;167;p16"/>
            <p:cNvSpPr/>
            <p:nvPr/>
          </p:nvSpPr>
          <p:spPr>
            <a:xfrm>
              <a:off x="2095500" y="0"/>
              <a:ext cx="1771800" cy="647700"/>
            </a:xfrm>
            <a:prstGeom prst="roundRect">
              <a:avLst>
                <a:gd fmla="val 14705" name="adj"/>
              </a:avLst>
            </a:prstGeom>
            <a:solidFill>
              <a:srgbClr val="FFFFFF"/>
            </a:solidFill>
            <a:ln cap="flat" cmpd="sng" w="9525">
              <a:solidFill>
                <a:srgbClr val="E3DEC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6"/>
            <p:cNvSpPr txBox="1"/>
            <p:nvPr/>
          </p:nvSpPr>
          <p:spPr>
            <a:xfrm>
              <a:off x="2095500" y="0"/>
              <a:ext cx="17718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75">
                  <a:solidFill>
                    <a:srgbClr val="1E3324"/>
                  </a:solidFill>
                  <a:latin typeface="Nunito"/>
                  <a:ea typeface="Nunito"/>
                  <a:cs typeface="Nunito"/>
                  <a:sym typeface="Nunito"/>
                </a:rPr>
                <a:t>Detect language</a:t>
              </a:r>
              <a:endParaRPr b="1" sz="975">
                <a:solidFill>
                  <a:srgbClr val="1E3324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pic>
          <p:nvPicPr>
            <p:cNvPr id="169" name="Google Shape;169;p16"/>
            <p:cNvPicPr preferRelativeResize="0"/>
            <p:nvPr/>
          </p:nvPicPr>
          <p:blipFill rotWithShape="1">
            <a:blip r:embed="rId5">
              <a:alphaModFix/>
            </a:blip>
            <a:srcRect b="0" l="475" r="475" t="0"/>
            <a:stretch/>
          </p:blipFill>
          <p:spPr>
            <a:xfrm>
              <a:off x="3962400" y="247650"/>
              <a:ext cx="123900" cy="14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" name="Google Shape;170;p16"/>
            <p:cNvSpPr/>
            <p:nvPr/>
          </p:nvSpPr>
          <p:spPr>
            <a:xfrm>
              <a:off x="4191000" y="0"/>
              <a:ext cx="1771800" cy="647700"/>
            </a:xfrm>
            <a:prstGeom prst="roundRect">
              <a:avLst>
                <a:gd fmla="val 14705" name="adj"/>
              </a:avLst>
            </a:prstGeom>
            <a:solidFill>
              <a:srgbClr val="FFFFFF"/>
            </a:solidFill>
            <a:ln cap="flat" cmpd="sng" w="9525">
              <a:solidFill>
                <a:srgbClr val="E3DEC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6"/>
            <p:cNvSpPr txBox="1"/>
            <p:nvPr/>
          </p:nvSpPr>
          <p:spPr>
            <a:xfrm>
              <a:off x="4191000" y="0"/>
              <a:ext cx="17718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75">
                  <a:solidFill>
                    <a:srgbClr val="1E3324"/>
                  </a:solidFill>
                  <a:latin typeface="Nunito"/>
                  <a:ea typeface="Nunito"/>
                  <a:cs typeface="Nunito"/>
                  <a:sym typeface="Nunito"/>
                </a:rPr>
                <a:t>Translate in</a:t>
              </a:r>
              <a:endParaRPr b="1" sz="975">
                <a:solidFill>
                  <a:srgbClr val="1E3324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pic>
          <p:nvPicPr>
            <p:cNvPr id="172" name="Google Shape;172;p16"/>
            <p:cNvPicPr preferRelativeResize="0"/>
            <p:nvPr/>
          </p:nvPicPr>
          <p:blipFill rotWithShape="1">
            <a:blip r:embed="rId4">
              <a:alphaModFix/>
            </a:blip>
            <a:srcRect b="0" l="475" r="475" t="0"/>
            <a:stretch/>
          </p:blipFill>
          <p:spPr>
            <a:xfrm>
              <a:off x="6057900" y="247650"/>
              <a:ext cx="123900" cy="14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p16"/>
            <p:cNvSpPr/>
            <p:nvPr/>
          </p:nvSpPr>
          <p:spPr>
            <a:xfrm>
              <a:off x="6286500" y="0"/>
              <a:ext cx="1771800" cy="647700"/>
            </a:xfrm>
            <a:prstGeom prst="roundRect">
              <a:avLst>
                <a:gd fmla="val 14705" name="adj"/>
              </a:avLst>
            </a:prstGeom>
            <a:solidFill>
              <a:srgbClr val="FFFFFF"/>
            </a:solidFill>
            <a:ln cap="flat" cmpd="sng" w="9525">
              <a:solidFill>
                <a:srgbClr val="E3DEC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6"/>
            <p:cNvSpPr txBox="1"/>
            <p:nvPr/>
          </p:nvSpPr>
          <p:spPr>
            <a:xfrm>
              <a:off x="6286500" y="0"/>
              <a:ext cx="17718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75">
                  <a:solidFill>
                    <a:srgbClr val="1E3324"/>
                  </a:solidFill>
                  <a:latin typeface="Nunito"/>
                  <a:ea typeface="Nunito"/>
                  <a:cs typeface="Nunito"/>
                  <a:sym typeface="Nunito"/>
                </a:rPr>
                <a:t>Small model answers</a:t>
              </a:r>
              <a:endParaRPr b="1" sz="975">
                <a:solidFill>
                  <a:srgbClr val="1E3324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pic>
          <p:nvPicPr>
            <p:cNvPr id="175" name="Google Shape;175;p16"/>
            <p:cNvPicPr preferRelativeResize="0"/>
            <p:nvPr/>
          </p:nvPicPr>
          <p:blipFill rotWithShape="1">
            <a:blip r:embed="rId5">
              <a:alphaModFix/>
            </a:blip>
            <a:srcRect b="0" l="475" r="475" t="0"/>
            <a:stretch/>
          </p:blipFill>
          <p:spPr>
            <a:xfrm>
              <a:off x="8153400" y="247650"/>
              <a:ext cx="123900" cy="14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p16"/>
            <p:cNvSpPr/>
            <p:nvPr/>
          </p:nvSpPr>
          <p:spPr>
            <a:xfrm>
              <a:off x="8382000" y="0"/>
              <a:ext cx="1771800" cy="647700"/>
            </a:xfrm>
            <a:prstGeom prst="roundRect">
              <a:avLst>
                <a:gd fmla="val 14705" name="adj"/>
              </a:avLst>
            </a:prstGeom>
            <a:solidFill>
              <a:srgbClr val="FFFFFF"/>
            </a:solidFill>
            <a:ln cap="flat" cmpd="sng" w="9525">
              <a:solidFill>
                <a:srgbClr val="E3DEC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6"/>
            <p:cNvSpPr txBox="1"/>
            <p:nvPr/>
          </p:nvSpPr>
          <p:spPr>
            <a:xfrm>
              <a:off x="8382000" y="0"/>
              <a:ext cx="17718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75">
                  <a:solidFill>
                    <a:srgbClr val="1E3324"/>
                  </a:solidFill>
                  <a:latin typeface="Nunito"/>
                  <a:ea typeface="Nunito"/>
                  <a:cs typeface="Nunito"/>
                  <a:sym typeface="Nunito"/>
                </a:rPr>
                <a:t>Translate back</a:t>
              </a:r>
              <a:endParaRPr b="1" sz="975">
                <a:solidFill>
                  <a:srgbClr val="1E3324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178" name="Google Shape;178;p16"/>
          <p:cNvSpPr/>
          <p:nvPr/>
        </p:nvSpPr>
        <p:spPr>
          <a:xfrm>
            <a:off x="723900" y="2781300"/>
            <a:ext cx="10744200" cy="3238500"/>
          </a:xfrm>
          <a:prstGeom prst="roundRect">
            <a:avLst>
              <a:gd fmla="val 4705" name="adj"/>
            </a:avLst>
          </a:prstGeom>
          <a:solidFill>
            <a:srgbClr val="F2EDE4"/>
          </a:solidFill>
          <a:ln cap="flat" cmpd="sng" w="9525">
            <a:solidFill>
              <a:srgbClr val="E3D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895350" y="2914650"/>
            <a:ext cx="1038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C6C25"/>
                </a:solidFill>
                <a:latin typeface="Nunito"/>
                <a:ea typeface="Nunito"/>
                <a:cs typeface="Nunito"/>
                <a:sym typeface="Nunito"/>
              </a:rPr>
              <a:t>GROUNDING ENGINE &amp; VERIFICATION FLOW</a:t>
            </a:r>
            <a:endParaRPr b="1" sz="1050">
              <a:solidFill>
                <a:srgbClr val="BC6C2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80" name="Google Shape;180;p16"/>
          <p:cNvGrpSpPr/>
          <p:nvPr/>
        </p:nvGrpSpPr>
        <p:grpSpPr>
          <a:xfrm>
            <a:off x="895350" y="3190875"/>
            <a:ext cx="10153650" cy="2381400"/>
            <a:chOff x="0" y="0"/>
            <a:chExt cx="10153650" cy="2381400"/>
          </a:xfrm>
        </p:grpSpPr>
        <p:sp>
          <p:nvSpPr>
            <p:cNvPr id="181" name="Google Shape;181;p16"/>
            <p:cNvSpPr/>
            <p:nvPr/>
          </p:nvSpPr>
          <p:spPr>
            <a:xfrm>
              <a:off x="0" y="666750"/>
              <a:ext cx="17622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E3DEC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6"/>
            <p:cNvSpPr txBox="1"/>
            <p:nvPr/>
          </p:nvSpPr>
          <p:spPr>
            <a:xfrm>
              <a:off x="0" y="666750"/>
              <a:ext cx="17622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5250" spcFirstLastPara="1" rIns="9525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1E3324"/>
                  </a:solidFill>
                  <a:latin typeface="Nunito"/>
                  <a:ea typeface="Nunito"/>
                  <a:cs typeface="Nunito"/>
                  <a:sym typeface="Nunito"/>
                </a:rPr>
                <a:t>Sensor Input</a:t>
              </a:r>
              <a:endParaRPr b="1" sz="900">
                <a:solidFill>
                  <a:srgbClr val="1E3324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800">
                  <a:solidFill>
                    <a:srgbClr val="5C6B60"/>
                  </a:solidFill>
                  <a:latin typeface="Nunito"/>
                  <a:ea typeface="Nunito"/>
                  <a:cs typeface="Nunito"/>
                  <a:sym typeface="Nunito"/>
                </a:rPr>
                <a:t>Photo · Question · IMU stream</a:t>
              </a:r>
              <a:endParaRPr b="0" sz="800">
                <a:solidFill>
                  <a:srgbClr val="5C6B6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2295525" y="666750"/>
              <a:ext cx="18573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E3DEC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6"/>
            <p:cNvSpPr txBox="1"/>
            <p:nvPr/>
          </p:nvSpPr>
          <p:spPr>
            <a:xfrm>
              <a:off x="2295525" y="666750"/>
              <a:ext cx="18573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5250" spcFirstLastPara="1" rIns="9525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1E3324"/>
                  </a:solidFill>
                  <a:latin typeface="Nunito"/>
                  <a:ea typeface="Nunito"/>
                  <a:cs typeface="Nunito"/>
                  <a:sym typeface="Nunito"/>
                </a:rPr>
                <a:t>Classifier / Retrieval</a:t>
              </a:r>
              <a:endParaRPr b="1" sz="900">
                <a:solidFill>
                  <a:srgbClr val="1E3324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800">
                  <a:solidFill>
                    <a:srgbClr val="5C6B60"/>
                  </a:solidFill>
                  <a:latin typeface="Nunito"/>
                  <a:ea typeface="Nunito"/>
                  <a:cs typeface="Nunito"/>
                  <a:sym typeface="Nunito"/>
                </a:rPr>
                <a:t>Tiny offline model · Keyword match</a:t>
              </a:r>
              <a:endParaRPr b="0" sz="800">
                <a:solidFill>
                  <a:srgbClr val="5C6B6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185" name="Google Shape;185;p16"/>
            <p:cNvSpPr/>
            <p:nvPr/>
          </p:nvSpPr>
          <p:spPr>
            <a:xfrm>
              <a:off x="4724400" y="571500"/>
              <a:ext cx="1333500" cy="11430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60000"/>
                  </a:lnTo>
                  <a:lnTo>
                    <a:pt x="60000" y="120000"/>
                  </a:lnTo>
                  <a:lnTo>
                    <a:pt x="0" y="60000"/>
                  </a:lnTo>
                  <a:close/>
                </a:path>
              </a:pathLst>
            </a:custGeom>
            <a:solidFill>
              <a:srgbClr val="FFFFFF"/>
            </a:solidFill>
            <a:ln cap="flat" cmpd="sng" w="19050">
              <a:solidFill>
                <a:srgbClr val="BC6C2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6"/>
            <p:cNvSpPr txBox="1"/>
            <p:nvPr/>
          </p:nvSpPr>
          <p:spPr>
            <a:xfrm>
              <a:off x="4867275" y="904875"/>
              <a:ext cx="1047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1E3324"/>
                  </a:solidFill>
                  <a:latin typeface="Nunito"/>
                  <a:ea typeface="Nunito"/>
                  <a:cs typeface="Nunito"/>
                  <a:sym typeface="Nunito"/>
                </a:rPr>
                <a:t>Match found?</a:t>
              </a:r>
              <a:endParaRPr b="1" sz="900">
                <a:solidFill>
                  <a:srgbClr val="1E3324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pic>
          <p:nvPicPr>
            <p:cNvPr id="187" name="Google Shape;187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381625" y="285750"/>
              <a:ext cx="1119300" cy="285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p16"/>
            <p:cNvSpPr/>
            <p:nvPr/>
          </p:nvSpPr>
          <p:spPr>
            <a:xfrm>
              <a:off x="5524500" y="190500"/>
              <a:ext cx="476400" cy="190500"/>
            </a:xfrm>
            <a:prstGeom prst="roundRect">
              <a:avLst>
                <a:gd fmla="val 20000" name="adj"/>
              </a:avLst>
            </a:prstGeom>
            <a:solidFill>
              <a:srgbClr val="E0EC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6"/>
            <p:cNvSpPr txBox="1"/>
            <p:nvPr/>
          </p:nvSpPr>
          <p:spPr>
            <a:xfrm>
              <a:off x="5524500" y="190500"/>
              <a:ext cx="476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2E7D32"/>
                  </a:solidFill>
                  <a:latin typeface="Nunito"/>
                  <a:ea typeface="Nunito"/>
                  <a:cs typeface="Nunito"/>
                  <a:sym typeface="Nunito"/>
                </a:rPr>
                <a:t>YES</a:t>
              </a:r>
              <a:endParaRPr b="1" sz="800">
                <a:solidFill>
                  <a:srgbClr val="2E7D3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190" name="Google Shape;190;p16"/>
            <p:cNvSpPr/>
            <p:nvPr/>
          </p:nvSpPr>
          <p:spPr>
            <a:xfrm>
              <a:off x="6534150" y="0"/>
              <a:ext cx="3619500" cy="8574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19050">
              <a:solidFill>
                <a:srgbClr val="2E7D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6"/>
            <p:cNvSpPr txBox="1"/>
            <p:nvPr/>
          </p:nvSpPr>
          <p:spPr>
            <a:xfrm>
              <a:off x="6534150" y="0"/>
              <a:ext cx="3619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52400" spcFirstLastPara="1" rIns="1524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2E7D32"/>
                  </a:solidFill>
                  <a:latin typeface="Nunito"/>
                  <a:ea typeface="Nunito"/>
                  <a:cs typeface="Nunito"/>
                  <a:sym typeface="Nunito"/>
                </a:rPr>
                <a:t>Model rephrases verified note only</a:t>
              </a:r>
              <a:endParaRPr b="1" sz="900">
                <a:solidFill>
                  <a:srgbClr val="2E7D3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800">
                  <a:solidFill>
                    <a:srgbClr val="5C6B60"/>
                  </a:solidFill>
                  <a:latin typeface="Nunito"/>
                  <a:ea typeface="Nunito"/>
                  <a:cs typeface="Nunito"/>
                  <a:sym typeface="Nunito"/>
                </a:rPr>
                <a:t>Cannot add new facts — presented with confidence level &amp; timing verification.</a:t>
              </a:r>
              <a:endParaRPr b="0" sz="800">
                <a:solidFill>
                  <a:srgbClr val="5C6B6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pic>
          <p:nvPicPr>
            <p:cNvPr id="192" name="Google Shape;192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81625" y="1714500"/>
              <a:ext cx="1119300" cy="285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" name="Google Shape;193;p16"/>
            <p:cNvSpPr/>
            <p:nvPr/>
          </p:nvSpPr>
          <p:spPr>
            <a:xfrm>
              <a:off x="5524500" y="1857375"/>
              <a:ext cx="476400" cy="190500"/>
            </a:xfrm>
            <a:prstGeom prst="roundRect">
              <a:avLst>
                <a:gd fmla="val 20000" name="adj"/>
              </a:avLst>
            </a:prstGeom>
            <a:solidFill>
              <a:srgbClr val="FFEB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6"/>
            <p:cNvSpPr txBox="1"/>
            <p:nvPr/>
          </p:nvSpPr>
          <p:spPr>
            <a:xfrm>
              <a:off x="5524500" y="1857375"/>
              <a:ext cx="476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C62828"/>
                  </a:solidFill>
                  <a:latin typeface="Nunito"/>
                  <a:ea typeface="Nunito"/>
                  <a:cs typeface="Nunito"/>
                  <a:sym typeface="Nunito"/>
                </a:rPr>
                <a:t>NO</a:t>
              </a:r>
              <a:endParaRPr b="1" sz="800">
                <a:solidFill>
                  <a:srgbClr val="C62828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195" name="Google Shape;195;p16"/>
            <p:cNvSpPr/>
            <p:nvPr/>
          </p:nvSpPr>
          <p:spPr>
            <a:xfrm>
              <a:off x="6534150" y="1524000"/>
              <a:ext cx="3619500" cy="8574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19050">
              <a:solidFill>
                <a:srgbClr val="C62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6"/>
            <p:cNvSpPr txBox="1"/>
            <p:nvPr/>
          </p:nvSpPr>
          <p:spPr>
            <a:xfrm>
              <a:off x="6534150" y="1524000"/>
              <a:ext cx="3619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52400" spcFirstLastPara="1" rIns="1524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C62828"/>
                  </a:solidFill>
                  <a:latin typeface="Nunito"/>
                  <a:ea typeface="Nunito"/>
                  <a:cs typeface="Nunito"/>
                  <a:sym typeface="Nunito"/>
                </a:rPr>
                <a:t>"Not confident enough"</a:t>
              </a:r>
              <a:endParaRPr b="1" sz="900">
                <a:solidFill>
                  <a:srgbClr val="C62828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800">
                  <a:solidFill>
                    <a:srgbClr val="5C6B60"/>
                  </a:solidFill>
                  <a:latin typeface="Nunito"/>
                  <a:ea typeface="Nunito"/>
                  <a:cs typeface="Nunito"/>
                  <a:sym typeface="Nunito"/>
                </a:rPr>
                <a:t>No guesses given — the tool explicitly states lack of confidence instead of hallucinating.</a:t>
              </a:r>
              <a:endParaRPr b="0" sz="800">
                <a:solidFill>
                  <a:srgbClr val="5C6B6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197" name="Google Shape;197;p16"/>
          <p:cNvSpPr txBox="1"/>
          <p:nvPr/>
        </p:nvSpPr>
        <p:spPr>
          <a:xfrm>
            <a:off x="723900" y="6115050"/>
            <a:ext cx="10744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5C6B60"/>
                </a:solidFill>
                <a:latin typeface="Nunito"/>
                <a:ea typeface="Nunito"/>
                <a:cs typeface="Nunito"/>
                <a:sym typeface="Nunito"/>
              </a:rPr>
              <a:t>* The 9 languages are English, Bengali, Gujarati, Hindi, Kannada, Malayalam, Marathi, Tamil, and Telugu - and 10 more languages in progress.</a:t>
            </a:r>
            <a:endParaRPr b="0" sz="850">
              <a:solidFill>
                <a:srgbClr val="5C6B6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8" name="Google Shape;198;p16"/>
          <p:cNvSpPr/>
          <p:nvPr/>
        </p:nvSpPr>
        <p:spPr>
          <a:xfrm>
            <a:off x="723900" y="6362700"/>
            <a:ext cx="10744200" cy="9600"/>
          </a:xfrm>
          <a:prstGeom prst="rect">
            <a:avLst/>
          </a:prstGeom>
          <a:solidFill>
            <a:srgbClr val="E3DEC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723900" y="645795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707D74"/>
                </a:solidFill>
                <a:latin typeface="Nunito"/>
                <a:ea typeface="Nunito"/>
                <a:cs typeface="Nunito"/>
                <a:sym typeface="Nunito"/>
              </a:rPr>
              <a:t>VYOMAA LABS | PocketMind</a:t>
            </a:r>
            <a:endParaRPr b="0" sz="900">
              <a:solidFill>
                <a:srgbClr val="707D7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9F5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"/>
          <p:cNvSpPr/>
          <p:nvPr/>
        </p:nvSpPr>
        <p:spPr>
          <a:xfrm>
            <a:off x="723900" y="6200775"/>
            <a:ext cx="107442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723900" y="6200775"/>
            <a:ext cx="10744200" cy="9525"/>
          </a:xfrm>
          <a:prstGeom prst="rect">
            <a:avLst/>
          </a:prstGeom>
          <a:solidFill>
            <a:srgbClr val="E3DE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723900" y="2271476"/>
            <a:ext cx="1695600" cy="924000"/>
          </a:xfrm>
          <a:prstGeom prst="roundRect">
            <a:avLst>
              <a:gd fmla="val 12371" name="adj"/>
            </a:avLst>
          </a:prstGeom>
          <a:solidFill>
            <a:srgbClr val="F2EDE4"/>
          </a:solidFill>
          <a:ln cap="flat" cmpd="sng" w="9525">
            <a:solidFill>
              <a:srgbClr val="E3D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2533650" y="2271476"/>
            <a:ext cx="1695600" cy="924000"/>
          </a:xfrm>
          <a:prstGeom prst="roundRect">
            <a:avLst>
              <a:gd fmla="val 12371" name="adj"/>
            </a:avLst>
          </a:prstGeom>
          <a:solidFill>
            <a:srgbClr val="F2EDE4"/>
          </a:solidFill>
          <a:ln cap="flat" cmpd="sng" w="9525">
            <a:solidFill>
              <a:srgbClr val="E3D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"/>
          <p:cNvSpPr/>
          <p:nvPr/>
        </p:nvSpPr>
        <p:spPr>
          <a:xfrm>
            <a:off x="4343400" y="2271476"/>
            <a:ext cx="1695600" cy="924000"/>
          </a:xfrm>
          <a:prstGeom prst="roundRect">
            <a:avLst>
              <a:gd fmla="val 12371" name="adj"/>
            </a:avLst>
          </a:prstGeom>
          <a:solidFill>
            <a:srgbClr val="F2EDE4"/>
          </a:solidFill>
          <a:ln cap="flat" cmpd="sng" w="9525">
            <a:solidFill>
              <a:srgbClr val="E3D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/>
          <p:nvPr/>
        </p:nvSpPr>
        <p:spPr>
          <a:xfrm>
            <a:off x="6153150" y="2271476"/>
            <a:ext cx="1695600" cy="924000"/>
          </a:xfrm>
          <a:prstGeom prst="roundRect">
            <a:avLst>
              <a:gd fmla="val 12371" name="adj"/>
            </a:avLst>
          </a:prstGeom>
          <a:solidFill>
            <a:srgbClr val="F2EDE4"/>
          </a:solidFill>
          <a:ln cap="flat" cmpd="sng" w="9525">
            <a:solidFill>
              <a:srgbClr val="E3D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/>
          <p:nvPr/>
        </p:nvSpPr>
        <p:spPr>
          <a:xfrm>
            <a:off x="7962900" y="2271476"/>
            <a:ext cx="1695600" cy="924000"/>
          </a:xfrm>
          <a:prstGeom prst="roundRect">
            <a:avLst>
              <a:gd fmla="val 12371" name="adj"/>
            </a:avLst>
          </a:prstGeom>
          <a:solidFill>
            <a:srgbClr val="F2EDE4"/>
          </a:solidFill>
          <a:ln cap="flat" cmpd="sng" w="9525">
            <a:solidFill>
              <a:srgbClr val="E3D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"/>
          <p:cNvSpPr/>
          <p:nvPr/>
        </p:nvSpPr>
        <p:spPr>
          <a:xfrm>
            <a:off x="9772650" y="2271476"/>
            <a:ext cx="1695600" cy="924000"/>
          </a:xfrm>
          <a:prstGeom prst="roundRect">
            <a:avLst>
              <a:gd fmla="val 12371" name="adj"/>
            </a:avLst>
          </a:prstGeom>
          <a:solidFill>
            <a:srgbClr val="FFFFFF"/>
          </a:solidFill>
          <a:ln cap="flat" cmpd="sng" w="19050">
            <a:solidFill>
              <a:srgbClr val="BC6C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723900" y="3385901"/>
            <a:ext cx="5257800" cy="1224900"/>
          </a:xfrm>
          <a:prstGeom prst="roundRect">
            <a:avLst>
              <a:gd fmla="val 12442" name="adj"/>
            </a:avLst>
          </a:prstGeom>
          <a:solidFill>
            <a:srgbClr val="F2EDE4"/>
          </a:solidFill>
          <a:ln cap="flat" cmpd="sng" w="9525">
            <a:solidFill>
              <a:srgbClr val="E3D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7"/>
          <p:cNvSpPr/>
          <p:nvPr/>
        </p:nvSpPr>
        <p:spPr>
          <a:xfrm>
            <a:off x="6210300" y="3385901"/>
            <a:ext cx="5257800" cy="1224900"/>
          </a:xfrm>
          <a:prstGeom prst="roundRect">
            <a:avLst>
              <a:gd fmla="val 12442" name="adj"/>
            </a:avLst>
          </a:prstGeom>
          <a:solidFill>
            <a:srgbClr val="F2EDE4"/>
          </a:solidFill>
          <a:ln cap="flat" cmpd="sng" w="9525">
            <a:solidFill>
              <a:srgbClr val="E3D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7"/>
          <p:cNvSpPr txBox="1"/>
          <p:nvPr/>
        </p:nvSpPr>
        <p:spPr>
          <a:xfrm>
            <a:off x="723900" y="457200"/>
            <a:ext cx="11468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BC6C25"/>
                </a:solidFill>
                <a:latin typeface="Quicksand"/>
                <a:ea typeface="Quicksand"/>
                <a:cs typeface="Quicksand"/>
                <a:sym typeface="Quicksand"/>
              </a:rPr>
              <a:t>ENGINEERING METHOD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723900" y="666750"/>
            <a:ext cx="11381422" cy="7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rPr>
              <a:t>Spend compute once in the cloud. Then run intelligence for free on the device.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723900" y="6324600"/>
            <a:ext cx="18811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07D74"/>
                </a:solidFill>
                <a:latin typeface="Nunito"/>
                <a:ea typeface="Nunito"/>
                <a:cs typeface="Nunito"/>
                <a:sym typeface="Nunito"/>
              </a:rPr>
              <a:t>VYOMAA LABS | PocketMind</a:t>
            </a:r>
            <a:endParaRPr/>
          </a:p>
        </p:txBody>
      </p:sp>
      <p:sp>
        <p:nvSpPr>
          <p:cNvPr id="217" name="Google Shape;217;p17"/>
          <p:cNvSpPr txBox="1"/>
          <p:nvPr/>
        </p:nvSpPr>
        <p:spPr>
          <a:xfrm>
            <a:off x="11182350" y="6324600"/>
            <a:ext cx="571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07D74"/>
                </a:solidFill>
                <a:latin typeface="Nunito"/>
                <a:ea typeface="Nunito"/>
                <a:cs typeface="Nunito"/>
                <a:sym typeface="Nunito"/>
              </a:rPr>
              <a:t>7 / 12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642937" y="2452451"/>
            <a:ext cx="1857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BC6C25"/>
                </a:solidFill>
                <a:latin typeface="Nunito"/>
                <a:ea typeface="Nunito"/>
                <a:cs typeface="Nunito"/>
                <a:sym typeface="Nunito"/>
              </a:rPr>
              <a:t>STEP 1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642937" y="2652476"/>
            <a:ext cx="1857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324"/>
                </a:solidFill>
                <a:latin typeface="Nunito"/>
                <a:ea typeface="Nunito"/>
                <a:cs typeface="Nunito"/>
                <a:sym typeface="Nunito"/>
              </a:rPr>
              <a:t>Define the task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2452687" y="2452451"/>
            <a:ext cx="1857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BC6C25"/>
                </a:solidFill>
                <a:latin typeface="Nunito"/>
                <a:ea typeface="Nunito"/>
                <a:cs typeface="Nunito"/>
                <a:sym typeface="Nunito"/>
              </a:rPr>
              <a:t>STEP 2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2452687" y="2652476"/>
            <a:ext cx="1857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324"/>
                </a:solidFill>
                <a:latin typeface="Nunito"/>
                <a:ea typeface="Nunito"/>
                <a:cs typeface="Nunito"/>
                <a:sym typeface="Nunito"/>
              </a:rPr>
              <a:t>Teach with large model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4262437" y="2452451"/>
            <a:ext cx="1857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BC6C25"/>
                </a:solidFill>
                <a:latin typeface="Nunito"/>
                <a:ea typeface="Nunito"/>
                <a:cs typeface="Nunito"/>
                <a:sym typeface="Nunito"/>
              </a:rPr>
              <a:t>STEP 3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4262437" y="2652476"/>
            <a:ext cx="1857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324"/>
                </a:solidFill>
                <a:latin typeface="Nunito"/>
                <a:ea typeface="Nunito"/>
                <a:cs typeface="Nunito"/>
                <a:sym typeface="Nunito"/>
              </a:rPr>
              <a:t>Adapt open small model</a:t>
            </a:r>
            <a:endParaRPr/>
          </a:p>
        </p:txBody>
      </p:sp>
      <p:sp>
        <p:nvSpPr>
          <p:cNvPr id="224" name="Google Shape;224;p17"/>
          <p:cNvSpPr txBox="1"/>
          <p:nvPr/>
        </p:nvSpPr>
        <p:spPr>
          <a:xfrm>
            <a:off x="6072187" y="2452451"/>
            <a:ext cx="1857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BC6C25"/>
                </a:solidFill>
                <a:latin typeface="Nunito"/>
                <a:ea typeface="Nunito"/>
                <a:cs typeface="Nunito"/>
                <a:sym typeface="Nunito"/>
              </a:rPr>
              <a:t>STEP 4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6072187" y="2652476"/>
            <a:ext cx="1857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324"/>
                </a:solidFill>
                <a:latin typeface="Nunito"/>
                <a:ea typeface="Nunito"/>
                <a:cs typeface="Nunito"/>
                <a:sym typeface="Nunito"/>
              </a:rPr>
              <a:t>Compress</a:t>
            </a:r>
            <a:endParaRPr/>
          </a:p>
        </p:txBody>
      </p:sp>
      <p:sp>
        <p:nvSpPr>
          <p:cNvPr id="226" name="Google Shape;226;p17"/>
          <p:cNvSpPr txBox="1"/>
          <p:nvPr/>
        </p:nvSpPr>
        <p:spPr>
          <a:xfrm>
            <a:off x="7881937" y="2452451"/>
            <a:ext cx="1857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BC6C25"/>
                </a:solidFill>
                <a:latin typeface="Nunito"/>
                <a:ea typeface="Nunito"/>
                <a:cs typeface="Nunito"/>
                <a:sym typeface="Nunito"/>
              </a:rPr>
              <a:t>STEP 5</a:t>
            </a:r>
            <a:endParaRPr/>
          </a:p>
        </p:txBody>
      </p:sp>
      <p:sp>
        <p:nvSpPr>
          <p:cNvPr id="227" name="Google Shape;227;p17"/>
          <p:cNvSpPr txBox="1"/>
          <p:nvPr/>
        </p:nvSpPr>
        <p:spPr>
          <a:xfrm>
            <a:off x="7881937" y="2652476"/>
            <a:ext cx="1857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324"/>
                </a:solidFill>
                <a:latin typeface="Nunito"/>
                <a:ea typeface="Nunito"/>
                <a:cs typeface="Nunito"/>
                <a:sym typeface="Nunito"/>
              </a:rPr>
              <a:t>Test rigorously</a:t>
            </a:r>
            <a:endParaRPr/>
          </a:p>
        </p:txBody>
      </p:sp>
      <p:sp>
        <p:nvSpPr>
          <p:cNvPr id="228" name="Google Shape;228;p17"/>
          <p:cNvSpPr txBox="1"/>
          <p:nvPr/>
        </p:nvSpPr>
        <p:spPr>
          <a:xfrm>
            <a:off x="9703593" y="2461976"/>
            <a:ext cx="1833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BC6C25"/>
                </a:solidFill>
                <a:latin typeface="Nunito"/>
                <a:ea typeface="Nunito"/>
                <a:cs typeface="Nunito"/>
                <a:sym typeface="Nunito"/>
              </a:rPr>
              <a:t>STEP 6</a:t>
            </a:r>
            <a:endParaRPr/>
          </a:p>
        </p:txBody>
      </p:sp>
      <p:sp>
        <p:nvSpPr>
          <p:cNvPr id="229" name="Google Shape;229;p17"/>
          <p:cNvSpPr txBox="1"/>
          <p:nvPr/>
        </p:nvSpPr>
        <p:spPr>
          <a:xfrm>
            <a:off x="9703593" y="2662001"/>
            <a:ext cx="1833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324"/>
                </a:solidFill>
                <a:latin typeface="Nunito"/>
                <a:ea typeface="Nunito"/>
                <a:cs typeface="Nunito"/>
                <a:sym typeface="Nunito"/>
              </a:rPr>
              <a:t>Ship and update</a:t>
            </a:r>
            <a:endParaRPr/>
          </a:p>
        </p:txBody>
      </p:sp>
      <p:sp>
        <p:nvSpPr>
          <p:cNvPr id="230" name="Google Shape;230;p17"/>
          <p:cNvSpPr txBox="1"/>
          <p:nvPr/>
        </p:nvSpPr>
        <p:spPr>
          <a:xfrm>
            <a:off x="962025" y="3624026"/>
            <a:ext cx="6275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rPr>
              <a:t>Near-zero marginal cost</a:t>
            </a:r>
            <a:endParaRPr/>
          </a:p>
        </p:txBody>
      </p:sp>
      <p:sp>
        <p:nvSpPr>
          <p:cNvPr id="231" name="Google Shape;231;p17"/>
          <p:cNvSpPr txBox="1"/>
          <p:nvPr/>
        </p:nvSpPr>
        <p:spPr>
          <a:xfrm>
            <a:off x="962025" y="3919301"/>
            <a:ext cx="48768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B4740"/>
                </a:solidFill>
                <a:latin typeface="Nunito"/>
                <a:ea typeface="Nunito"/>
                <a:cs typeface="Nunito"/>
                <a:sym typeface="Nunito"/>
              </a:rPr>
              <a:t>Cost per extra user is close to zero because the computing happens on the user's own device.</a:t>
            </a:r>
            <a:endParaRPr/>
          </a:p>
        </p:txBody>
      </p:sp>
      <p:sp>
        <p:nvSpPr>
          <p:cNvPr id="232" name="Google Shape;232;p17"/>
          <p:cNvSpPr txBox="1"/>
          <p:nvPr/>
        </p:nvSpPr>
        <p:spPr>
          <a:xfrm>
            <a:off x="6448425" y="3624026"/>
            <a:ext cx="5743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rPr>
              <a:t>Seamless updates</a:t>
            </a:r>
            <a:endParaRPr/>
          </a:p>
        </p:txBody>
      </p:sp>
      <p:sp>
        <p:nvSpPr>
          <p:cNvPr id="233" name="Google Shape;233;p17"/>
          <p:cNvSpPr txBox="1"/>
          <p:nvPr/>
        </p:nvSpPr>
        <p:spPr>
          <a:xfrm>
            <a:off x="6448425" y="3919301"/>
            <a:ext cx="48768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B4740"/>
                </a:solidFill>
                <a:latin typeface="Nunito"/>
                <a:ea typeface="Nunito"/>
                <a:cs typeface="Nunito"/>
                <a:sym typeface="Nunito"/>
              </a:rPr>
              <a:t>Models update whenever a connection appears, so the device keeps getting better.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9F5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8"/>
          <p:cNvSpPr/>
          <p:nvPr/>
        </p:nvSpPr>
        <p:spPr>
          <a:xfrm>
            <a:off x="723900" y="6200775"/>
            <a:ext cx="107442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723900" y="6200775"/>
            <a:ext cx="10744200" cy="9600"/>
          </a:xfrm>
          <a:prstGeom prst="rect">
            <a:avLst/>
          </a:prstGeom>
          <a:solidFill>
            <a:srgbClr val="E3DE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2304554" y="2310406"/>
            <a:ext cx="2190900" cy="685800"/>
          </a:xfrm>
          <a:prstGeom prst="roundRect">
            <a:avLst>
              <a:gd fmla="val 22222" name="adj"/>
            </a:avLst>
          </a:prstGeom>
          <a:solidFill>
            <a:srgbClr val="FFFFFF"/>
          </a:solidFill>
          <a:ln cap="flat" cmpd="sng" w="1905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/>
          <p:nvPr/>
        </p:nvSpPr>
        <p:spPr>
          <a:xfrm>
            <a:off x="2319207" y="3237853"/>
            <a:ext cx="2190900" cy="685800"/>
          </a:xfrm>
          <a:prstGeom prst="roundRect">
            <a:avLst>
              <a:gd fmla="val 22222" name="adj"/>
            </a:avLst>
          </a:prstGeom>
          <a:solidFill>
            <a:srgbClr val="FFFFFF"/>
          </a:solidFill>
          <a:ln cap="flat" cmpd="sng" w="19050">
            <a:solidFill>
              <a:srgbClr val="3866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/>
          <p:nvPr/>
        </p:nvSpPr>
        <p:spPr>
          <a:xfrm>
            <a:off x="2296431" y="4221404"/>
            <a:ext cx="2190900" cy="637200"/>
          </a:xfrm>
          <a:prstGeom prst="roundRect">
            <a:avLst>
              <a:gd fmla="val 17391" name="adj"/>
            </a:avLst>
          </a:prstGeom>
          <a:solidFill>
            <a:srgbClr val="FFFFFF"/>
          </a:solidFill>
          <a:ln cap="flat" cmpd="sng" w="19050">
            <a:solidFill>
              <a:srgbClr val="BC6C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8087859" y="3646128"/>
            <a:ext cx="2190900" cy="685800"/>
          </a:xfrm>
          <a:prstGeom prst="roundRect">
            <a:avLst>
              <a:gd fmla="val 22222" name="adj"/>
            </a:avLst>
          </a:prstGeom>
          <a:solidFill>
            <a:srgbClr val="FFFFFF"/>
          </a:solidFill>
          <a:ln cap="flat" cmpd="sng" w="19050">
            <a:solidFill>
              <a:srgbClr val="C2C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8080769" y="2767842"/>
            <a:ext cx="2190900" cy="685800"/>
          </a:xfrm>
          <a:prstGeom prst="roundRect">
            <a:avLst>
              <a:gd fmla="val 22222" name="adj"/>
            </a:avLst>
          </a:prstGeom>
          <a:solidFill>
            <a:srgbClr val="FFFFFF"/>
          </a:solidFill>
          <a:ln cap="flat" cmpd="sng" w="19050">
            <a:solidFill>
              <a:srgbClr val="C2C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3828554" y="2539006"/>
            <a:ext cx="438300" cy="228600"/>
          </a:xfrm>
          <a:prstGeom prst="roundRect">
            <a:avLst>
              <a:gd fmla="val 25000" name="adj"/>
            </a:avLst>
          </a:prstGeom>
          <a:solidFill>
            <a:srgbClr val="E0E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/>
          <p:nvPr/>
        </p:nvSpPr>
        <p:spPr>
          <a:xfrm>
            <a:off x="3843207" y="3466453"/>
            <a:ext cx="438300" cy="228600"/>
          </a:xfrm>
          <a:prstGeom prst="roundRect">
            <a:avLst>
              <a:gd fmla="val 25000" name="adj"/>
            </a:avLst>
          </a:prstGeom>
          <a:solidFill>
            <a:srgbClr val="E1E8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4012964" y="4440186"/>
            <a:ext cx="438300" cy="228600"/>
          </a:xfrm>
          <a:prstGeom prst="roundRect">
            <a:avLst>
              <a:gd fmla="val 25000" name="adj"/>
            </a:avLst>
          </a:prstGeom>
          <a:solidFill>
            <a:srgbClr val="F5E9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9592809" y="3874728"/>
            <a:ext cx="457200" cy="228600"/>
          </a:xfrm>
          <a:prstGeom prst="roundRect">
            <a:avLst>
              <a:gd fmla="val 25000" name="adj"/>
            </a:avLst>
          </a:prstGeom>
          <a:solidFill>
            <a:srgbClr val="EAEC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9585719" y="2996442"/>
            <a:ext cx="457200" cy="228600"/>
          </a:xfrm>
          <a:prstGeom prst="roundRect">
            <a:avLst>
              <a:gd fmla="val 25000" name="adj"/>
            </a:avLst>
          </a:prstGeom>
          <a:solidFill>
            <a:srgbClr val="EAEC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0" name="Google Shape;2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3154" y="2539006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24881" y="4435234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6459" y="3874728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9369" y="2996442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8"/>
          <p:cNvSpPr txBox="1"/>
          <p:nvPr/>
        </p:nvSpPr>
        <p:spPr>
          <a:xfrm>
            <a:off x="723900" y="457200"/>
            <a:ext cx="11468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BC6C25"/>
                </a:solidFill>
                <a:latin typeface="Quicksand"/>
                <a:ea typeface="Quicksand"/>
                <a:cs typeface="Quicksand"/>
                <a:sym typeface="Quicksand"/>
              </a:rPr>
              <a:t>THE PLATFORM</a:t>
            </a:r>
            <a:endParaRPr/>
          </a:p>
        </p:txBody>
      </p:sp>
      <p:sp>
        <p:nvSpPr>
          <p:cNvPr id="255" name="Google Shape;255;p18"/>
          <p:cNvSpPr txBox="1"/>
          <p:nvPr/>
        </p:nvSpPr>
        <p:spPr>
          <a:xfrm>
            <a:off x="723900" y="666750"/>
            <a:ext cx="11381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rPr>
              <a:t>Build the engine once. Serve farming, learning, health, environment and vehicles.</a:t>
            </a:r>
            <a:endParaRPr/>
          </a:p>
        </p:txBody>
      </p:sp>
      <p:sp>
        <p:nvSpPr>
          <p:cNvPr id="256" name="Google Shape;256;p18"/>
          <p:cNvSpPr txBox="1"/>
          <p:nvPr/>
        </p:nvSpPr>
        <p:spPr>
          <a:xfrm>
            <a:off x="723900" y="6324600"/>
            <a:ext cx="18813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07D74"/>
                </a:solidFill>
                <a:latin typeface="Nunito"/>
                <a:ea typeface="Nunito"/>
                <a:cs typeface="Nunito"/>
                <a:sym typeface="Nunito"/>
              </a:rPr>
              <a:t>VYOMAA LABS | PocketMind</a:t>
            </a:r>
            <a:endParaRPr/>
          </a:p>
        </p:txBody>
      </p:sp>
      <p:sp>
        <p:nvSpPr>
          <p:cNvPr id="257" name="Google Shape;257;p18"/>
          <p:cNvSpPr txBox="1"/>
          <p:nvPr/>
        </p:nvSpPr>
        <p:spPr>
          <a:xfrm>
            <a:off x="11182350" y="6324600"/>
            <a:ext cx="571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07D74"/>
                </a:solidFill>
                <a:latin typeface="Nunito"/>
                <a:ea typeface="Nunito"/>
                <a:cs typeface="Nunito"/>
                <a:sym typeface="Nunito"/>
              </a:rPr>
              <a:t>4 / 12</a:t>
            </a:r>
            <a:endParaRPr/>
          </a:p>
        </p:txBody>
      </p:sp>
      <p:sp>
        <p:nvSpPr>
          <p:cNvPr id="258" name="Google Shape;258;p18"/>
          <p:cNvSpPr txBox="1"/>
          <p:nvPr/>
        </p:nvSpPr>
        <p:spPr>
          <a:xfrm>
            <a:off x="3923804" y="2577106"/>
            <a:ext cx="342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7D32"/>
                </a:solidFill>
                <a:latin typeface="Nunito"/>
                <a:ea typeface="Nunito"/>
                <a:cs typeface="Nunito"/>
                <a:sym typeface="Nunito"/>
              </a:rPr>
              <a:t>Now</a:t>
            </a:r>
            <a:endParaRPr/>
          </a:p>
        </p:txBody>
      </p:sp>
      <p:sp>
        <p:nvSpPr>
          <p:cNvPr id="259" name="Google Shape;259;p18"/>
          <p:cNvSpPr txBox="1"/>
          <p:nvPr/>
        </p:nvSpPr>
        <p:spPr>
          <a:xfrm>
            <a:off x="3938457" y="3504553"/>
            <a:ext cx="342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86641"/>
                </a:solidFill>
                <a:latin typeface="Nunito"/>
                <a:ea typeface="Nunito"/>
                <a:cs typeface="Nunito"/>
                <a:sym typeface="Nunito"/>
              </a:rPr>
              <a:t>Now</a:t>
            </a:r>
            <a:endParaRPr/>
          </a:p>
        </p:txBody>
      </p:sp>
      <p:sp>
        <p:nvSpPr>
          <p:cNvPr id="260" name="Google Shape;260;p18"/>
          <p:cNvSpPr txBox="1"/>
          <p:nvPr/>
        </p:nvSpPr>
        <p:spPr>
          <a:xfrm>
            <a:off x="4108214" y="4478286"/>
            <a:ext cx="342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C6C25"/>
                </a:solidFill>
                <a:latin typeface="Nunito"/>
                <a:ea typeface="Nunito"/>
                <a:cs typeface="Nunito"/>
                <a:sym typeface="Nunito"/>
              </a:rPr>
              <a:t>Now</a:t>
            </a:r>
            <a:endParaRPr/>
          </a:p>
        </p:txBody>
      </p:sp>
      <p:sp>
        <p:nvSpPr>
          <p:cNvPr id="261" name="Google Shape;261;p18"/>
          <p:cNvSpPr txBox="1"/>
          <p:nvPr/>
        </p:nvSpPr>
        <p:spPr>
          <a:xfrm>
            <a:off x="9688059" y="3912828"/>
            <a:ext cx="362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707D74"/>
                </a:solidFill>
                <a:latin typeface="Nunito"/>
                <a:ea typeface="Nunito"/>
                <a:cs typeface="Nunito"/>
                <a:sym typeface="Nunito"/>
              </a:rPr>
              <a:t>Next</a:t>
            </a:r>
            <a:endParaRPr/>
          </a:p>
        </p:txBody>
      </p:sp>
      <p:sp>
        <p:nvSpPr>
          <p:cNvPr id="262" name="Google Shape;262;p18"/>
          <p:cNvSpPr txBox="1"/>
          <p:nvPr/>
        </p:nvSpPr>
        <p:spPr>
          <a:xfrm>
            <a:off x="9680969" y="3034542"/>
            <a:ext cx="362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707D74"/>
                </a:solidFill>
                <a:latin typeface="Nunito"/>
                <a:ea typeface="Nunito"/>
                <a:cs typeface="Nunito"/>
                <a:sym typeface="Nunito"/>
              </a:rPr>
              <a:t>Next</a:t>
            </a:r>
            <a:endParaRPr/>
          </a:p>
        </p:txBody>
      </p:sp>
      <p:sp>
        <p:nvSpPr>
          <p:cNvPr id="263" name="Google Shape;263;p18"/>
          <p:cNvSpPr txBox="1"/>
          <p:nvPr/>
        </p:nvSpPr>
        <p:spPr>
          <a:xfrm>
            <a:off x="2857004" y="2481856"/>
            <a:ext cx="885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3324"/>
                </a:solidFill>
                <a:latin typeface="Nunito"/>
                <a:ea typeface="Nunito"/>
                <a:cs typeface="Nunito"/>
                <a:sym typeface="Nunito"/>
              </a:rPr>
              <a:t>AgriLens</a:t>
            </a:r>
            <a:endParaRPr/>
          </a:p>
        </p:txBody>
      </p:sp>
      <p:sp>
        <p:nvSpPr>
          <p:cNvPr id="264" name="Google Shape;264;p18"/>
          <p:cNvSpPr txBox="1"/>
          <p:nvPr/>
        </p:nvSpPr>
        <p:spPr>
          <a:xfrm>
            <a:off x="2857004" y="2672356"/>
            <a:ext cx="885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C6B60"/>
                </a:solidFill>
                <a:latin typeface="Nunito"/>
                <a:ea typeface="Nunito"/>
                <a:cs typeface="Nunito"/>
                <a:sym typeface="Nunito"/>
              </a:rPr>
              <a:t>Crop health</a:t>
            </a:r>
            <a:endParaRPr/>
          </a:p>
        </p:txBody>
      </p:sp>
      <p:sp>
        <p:nvSpPr>
          <p:cNvPr id="265" name="Google Shape;265;p18"/>
          <p:cNvSpPr txBox="1"/>
          <p:nvPr/>
        </p:nvSpPr>
        <p:spPr>
          <a:xfrm>
            <a:off x="2928807" y="3409303"/>
            <a:ext cx="990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3324"/>
                </a:solidFill>
                <a:latin typeface="Nunito"/>
                <a:ea typeface="Nunito"/>
                <a:cs typeface="Nunito"/>
                <a:sym typeface="Nunito"/>
              </a:rPr>
              <a:t>LearnLoop</a:t>
            </a:r>
            <a:endParaRPr/>
          </a:p>
        </p:txBody>
      </p:sp>
      <p:sp>
        <p:nvSpPr>
          <p:cNvPr id="266" name="Google Shape;266;p18"/>
          <p:cNvSpPr txBox="1"/>
          <p:nvPr/>
        </p:nvSpPr>
        <p:spPr>
          <a:xfrm>
            <a:off x="2928807" y="3599803"/>
            <a:ext cx="990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C6B60"/>
                </a:solidFill>
                <a:latin typeface="Nunito"/>
                <a:ea typeface="Nunito"/>
                <a:cs typeface="Nunito"/>
                <a:sym typeface="Nunito"/>
              </a:rPr>
              <a:t>AI tutor</a:t>
            </a:r>
            <a:endParaRPr/>
          </a:p>
        </p:txBody>
      </p:sp>
      <p:sp>
        <p:nvSpPr>
          <p:cNvPr id="267" name="Google Shape;267;p18"/>
          <p:cNvSpPr txBox="1"/>
          <p:nvPr/>
        </p:nvSpPr>
        <p:spPr>
          <a:xfrm>
            <a:off x="2905881" y="4392859"/>
            <a:ext cx="10098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3324"/>
                </a:solidFill>
                <a:latin typeface="Nunito"/>
                <a:ea typeface="Nunito"/>
                <a:cs typeface="Nunito"/>
                <a:sym typeface="Nunito"/>
              </a:rPr>
              <a:t>Edge fleet unit</a:t>
            </a:r>
            <a:endParaRPr/>
          </a:p>
        </p:txBody>
      </p:sp>
      <p:sp>
        <p:nvSpPr>
          <p:cNvPr id="268" name="Google Shape;268;p18"/>
          <p:cNvSpPr txBox="1"/>
          <p:nvPr/>
        </p:nvSpPr>
        <p:spPr>
          <a:xfrm>
            <a:off x="2909308" y="4592359"/>
            <a:ext cx="1200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C6B60"/>
                </a:solidFill>
                <a:latin typeface="Nunito"/>
                <a:ea typeface="Nunito"/>
                <a:cs typeface="Nunito"/>
                <a:sym typeface="Nunito"/>
              </a:rPr>
              <a:t>Vehicle safety</a:t>
            </a:r>
            <a:endParaRPr/>
          </a:p>
        </p:txBody>
      </p:sp>
      <p:sp>
        <p:nvSpPr>
          <p:cNvPr id="269" name="Google Shape;269;p18"/>
          <p:cNvSpPr txBox="1"/>
          <p:nvPr/>
        </p:nvSpPr>
        <p:spPr>
          <a:xfrm>
            <a:off x="8640309" y="3817578"/>
            <a:ext cx="1133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3324"/>
                </a:solidFill>
                <a:latin typeface="Nunito"/>
                <a:ea typeface="Nunito"/>
                <a:cs typeface="Nunito"/>
                <a:sym typeface="Nunito"/>
              </a:rPr>
              <a:t>EcoTrace</a:t>
            </a:r>
            <a:endParaRPr/>
          </a:p>
        </p:txBody>
      </p:sp>
      <p:sp>
        <p:nvSpPr>
          <p:cNvPr id="270" name="Google Shape;270;p18"/>
          <p:cNvSpPr txBox="1"/>
          <p:nvPr/>
        </p:nvSpPr>
        <p:spPr>
          <a:xfrm>
            <a:off x="8640309" y="4008078"/>
            <a:ext cx="1133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C6B60"/>
                </a:solidFill>
                <a:latin typeface="Nunito"/>
                <a:ea typeface="Nunito"/>
                <a:cs typeface="Nunito"/>
                <a:sym typeface="Nunito"/>
              </a:rPr>
              <a:t>Biodiversity map</a:t>
            </a:r>
            <a:endParaRPr/>
          </a:p>
        </p:txBody>
      </p:sp>
      <p:sp>
        <p:nvSpPr>
          <p:cNvPr id="271" name="Google Shape;271;p18"/>
          <p:cNvSpPr txBox="1"/>
          <p:nvPr/>
        </p:nvSpPr>
        <p:spPr>
          <a:xfrm>
            <a:off x="8633219" y="2939292"/>
            <a:ext cx="10860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3324"/>
                </a:solidFill>
                <a:latin typeface="Nunito"/>
                <a:ea typeface="Nunito"/>
                <a:cs typeface="Nunito"/>
                <a:sym typeface="Nunito"/>
              </a:rPr>
              <a:t>MedNotes</a:t>
            </a:r>
            <a:endParaRPr/>
          </a:p>
        </p:txBody>
      </p:sp>
      <p:sp>
        <p:nvSpPr>
          <p:cNvPr id="272" name="Google Shape;272;p18"/>
          <p:cNvSpPr txBox="1"/>
          <p:nvPr/>
        </p:nvSpPr>
        <p:spPr>
          <a:xfrm>
            <a:off x="8633219" y="3129792"/>
            <a:ext cx="1086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C6B60"/>
                </a:solidFill>
                <a:latin typeface="Nunito"/>
                <a:ea typeface="Nunito"/>
                <a:cs typeface="Nunito"/>
                <a:sym typeface="Nunito"/>
              </a:rPr>
              <a:t>Clinical records</a:t>
            </a:r>
            <a:endParaRPr/>
          </a:p>
        </p:txBody>
      </p:sp>
      <p:pic>
        <p:nvPicPr>
          <p:cNvPr id="273" name="Google Shape;273;p18"/>
          <p:cNvPicPr preferRelativeResize="0"/>
          <p:nvPr/>
        </p:nvPicPr>
        <p:blipFill rotWithShape="1">
          <a:blip r:embed="rId7">
            <a:alphaModFix/>
          </a:blip>
          <a:srcRect b="0" l="0" r="0" t="12960"/>
          <a:stretch/>
        </p:blipFill>
        <p:spPr>
          <a:xfrm>
            <a:off x="4988901" y="1224844"/>
            <a:ext cx="2369662" cy="46980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47807" y="3466453"/>
            <a:ext cx="26670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9F5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9"/>
          <p:cNvSpPr/>
          <p:nvPr/>
        </p:nvSpPr>
        <p:spPr>
          <a:xfrm>
            <a:off x="723900" y="6200775"/>
            <a:ext cx="107442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723900" y="6200775"/>
            <a:ext cx="10744200" cy="9600"/>
          </a:xfrm>
          <a:prstGeom prst="rect">
            <a:avLst/>
          </a:prstGeom>
          <a:solidFill>
            <a:srgbClr val="E3DE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9"/>
          <p:cNvSpPr/>
          <p:nvPr/>
        </p:nvSpPr>
        <p:spPr>
          <a:xfrm>
            <a:off x="630304" y="1766488"/>
            <a:ext cx="5720700" cy="1529700"/>
          </a:xfrm>
          <a:prstGeom prst="roundRect">
            <a:avLst>
              <a:gd fmla="val 9963" name="adj"/>
            </a:avLst>
          </a:prstGeom>
          <a:solidFill>
            <a:srgbClr val="F2ED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9"/>
          <p:cNvSpPr/>
          <p:nvPr/>
        </p:nvSpPr>
        <p:spPr>
          <a:xfrm>
            <a:off x="630304" y="3486644"/>
            <a:ext cx="5720700" cy="1529700"/>
          </a:xfrm>
          <a:prstGeom prst="roundRect">
            <a:avLst>
              <a:gd fmla="val 9963" name="adj"/>
            </a:avLst>
          </a:prstGeom>
          <a:solidFill>
            <a:srgbClr val="F2ED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9"/>
          <p:cNvSpPr/>
          <p:nvPr/>
        </p:nvSpPr>
        <p:spPr>
          <a:xfrm>
            <a:off x="630304" y="3286619"/>
            <a:ext cx="5720700" cy="9600"/>
          </a:xfrm>
          <a:prstGeom prst="rect">
            <a:avLst/>
          </a:prstGeom>
          <a:solidFill>
            <a:srgbClr val="E3DE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9"/>
          <p:cNvSpPr/>
          <p:nvPr/>
        </p:nvSpPr>
        <p:spPr>
          <a:xfrm>
            <a:off x="630304" y="1766488"/>
            <a:ext cx="5720700" cy="9600"/>
          </a:xfrm>
          <a:prstGeom prst="rect">
            <a:avLst/>
          </a:prstGeom>
          <a:solidFill>
            <a:srgbClr val="E3DE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9"/>
          <p:cNvSpPr/>
          <p:nvPr/>
        </p:nvSpPr>
        <p:spPr>
          <a:xfrm>
            <a:off x="630304" y="1766488"/>
            <a:ext cx="57300" cy="15297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9"/>
          <p:cNvSpPr/>
          <p:nvPr/>
        </p:nvSpPr>
        <p:spPr>
          <a:xfrm>
            <a:off x="6341434" y="1766488"/>
            <a:ext cx="9600" cy="1529700"/>
          </a:xfrm>
          <a:prstGeom prst="rect">
            <a:avLst/>
          </a:prstGeom>
          <a:solidFill>
            <a:srgbClr val="E3DE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630304" y="5006774"/>
            <a:ext cx="5720700" cy="9600"/>
          </a:xfrm>
          <a:prstGeom prst="rect">
            <a:avLst/>
          </a:prstGeom>
          <a:solidFill>
            <a:srgbClr val="E3DE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9"/>
          <p:cNvSpPr/>
          <p:nvPr/>
        </p:nvSpPr>
        <p:spPr>
          <a:xfrm>
            <a:off x="630304" y="3486644"/>
            <a:ext cx="5720700" cy="9600"/>
          </a:xfrm>
          <a:prstGeom prst="rect">
            <a:avLst/>
          </a:prstGeom>
          <a:solidFill>
            <a:srgbClr val="E3DE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9"/>
          <p:cNvSpPr/>
          <p:nvPr/>
        </p:nvSpPr>
        <p:spPr>
          <a:xfrm>
            <a:off x="630304" y="3486644"/>
            <a:ext cx="57300" cy="1529700"/>
          </a:xfrm>
          <a:prstGeom prst="rect">
            <a:avLst/>
          </a:prstGeom>
          <a:solidFill>
            <a:srgbClr val="3866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9"/>
          <p:cNvSpPr/>
          <p:nvPr/>
        </p:nvSpPr>
        <p:spPr>
          <a:xfrm>
            <a:off x="6341434" y="3486644"/>
            <a:ext cx="9600" cy="1529700"/>
          </a:xfrm>
          <a:prstGeom prst="rect">
            <a:avLst/>
          </a:prstGeom>
          <a:solidFill>
            <a:srgbClr val="E3DE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9"/>
          <p:cNvSpPr txBox="1"/>
          <p:nvPr/>
        </p:nvSpPr>
        <p:spPr>
          <a:xfrm>
            <a:off x="723900" y="457200"/>
            <a:ext cx="11468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BC6C25"/>
                </a:solidFill>
                <a:latin typeface="Quicksand"/>
                <a:ea typeface="Quicksand"/>
                <a:cs typeface="Quicksand"/>
                <a:sym typeface="Quicksand"/>
              </a:rPr>
              <a:t>FIRST PRODUCTS</a:t>
            </a:r>
            <a:endParaRPr/>
          </a:p>
        </p:txBody>
      </p:sp>
      <p:sp>
        <p:nvSpPr>
          <p:cNvPr id="292" name="Google Shape;292;p19"/>
          <p:cNvSpPr txBox="1"/>
          <p:nvPr/>
        </p:nvSpPr>
        <p:spPr>
          <a:xfrm>
            <a:off x="723900" y="666750"/>
            <a:ext cx="114681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rPr>
              <a:t>From a crop photo to a patient tutor, running offline.</a:t>
            </a:r>
            <a:endParaRPr/>
          </a:p>
        </p:txBody>
      </p:sp>
      <p:sp>
        <p:nvSpPr>
          <p:cNvPr id="293" name="Google Shape;293;p19"/>
          <p:cNvSpPr txBox="1"/>
          <p:nvPr/>
        </p:nvSpPr>
        <p:spPr>
          <a:xfrm>
            <a:off x="723900" y="6324600"/>
            <a:ext cx="18813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07D74"/>
                </a:solidFill>
                <a:latin typeface="Nunito"/>
                <a:ea typeface="Nunito"/>
                <a:cs typeface="Nunito"/>
                <a:sym typeface="Nunito"/>
              </a:rPr>
              <a:t>VYOMAA LABS | PocketMind</a:t>
            </a:r>
            <a:endParaRPr/>
          </a:p>
        </p:txBody>
      </p:sp>
      <p:sp>
        <p:nvSpPr>
          <p:cNvPr id="294" name="Google Shape;294;p19"/>
          <p:cNvSpPr txBox="1"/>
          <p:nvPr/>
        </p:nvSpPr>
        <p:spPr>
          <a:xfrm>
            <a:off x="11182350" y="6324600"/>
            <a:ext cx="571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07D74"/>
                </a:solidFill>
                <a:latin typeface="Nunito"/>
                <a:ea typeface="Nunito"/>
                <a:cs typeface="Nunito"/>
                <a:sym typeface="Nunito"/>
              </a:rPr>
              <a:t>5 / 12</a:t>
            </a:r>
            <a:endParaRPr/>
          </a:p>
        </p:txBody>
      </p:sp>
      <p:sp>
        <p:nvSpPr>
          <p:cNvPr id="295" name="Google Shape;295;p19"/>
          <p:cNvSpPr txBox="1"/>
          <p:nvPr/>
        </p:nvSpPr>
        <p:spPr>
          <a:xfrm>
            <a:off x="916054" y="2004613"/>
            <a:ext cx="6820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rPr>
              <a:t>AgriLens</a:t>
            </a:r>
            <a:endParaRPr/>
          </a:p>
        </p:txBody>
      </p:sp>
      <p:sp>
        <p:nvSpPr>
          <p:cNvPr id="296" name="Google Shape;296;p19"/>
          <p:cNvSpPr txBox="1"/>
          <p:nvPr/>
        </p:nvSpPr>
        <p:spPr>
          <a:xfrm>
            <a:off x="916054" y="2318938"/>
            <a:ext cx="52920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B4740"/>
                </a:solidFill>
                <a:latin typeface="Nunito"/>
                <a:ea typeface="Nunito"/>
                <a:cs typeface="Nunito"/>
                <a:sym typeface="Nunito"/>
              </a:rPr>
              <a:t>Point the camera at a crop and get an instant health read in a small app that needs no signal. Advice comes from a verified local advice bank.</a:t>
            </a:r>
            <a:endParaRPr/>
          </a:p>
        </p:txBody>
      </p:sp>
      <p:sp>
        <p:nvSpPr>
          <p:cNvPr id="297" name="Google Shape;297;p19"/>
          <p:cNvSpPr txBox="1"/>
          <p:nvPr/>
        </p:nvSpPr>
        <p:spPr>
          <a:xfrm>
            <a:off x="916051" y="2886580"/>
            <a:ext cx="52920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BC6C25"/>
                </a:solidFill>
                <a:latin typeface="Nunito"/>
                <a:ea typeface="Nunito"/>
                <a:cs typeface="Nunito"/>
                <a:sym typeface="Nunito"/>
              </a:rPr>
              <a:t>Stage:</a:t>
            </a:r>
            <a:r>
              <a:rPr b="1" lang="en-US" sz="975">
                <a:solidFill>
                  <a:srgbClr val="BC6C25"/>
                </a:solidFill>
                <a:latin typeface="Nunito"/>
                <a:ea typeface="Nunito"/>
                <a:cs typeface="Nunito"/>
                <a:sym typeface="Nunito"/>
              </a:rPr>
              <a:t> Development and internal testing phase is freezed and Field testing with 5 Farmers of different crops.</a:t>
            </a:r>
            <a:endParaRPr/>
          </a:p>
        </p:txBody>
      </p:sp>
      <p:sp>
        <p:nvSpPr>
          <p:cNvPr id="298" name="Google Shape;298;p19"/>
          <p:cNvSpPr txBox="1"/>
          <p:nvPr/>
        </p:nvSpPr>
        <p:spPr>
          <a:xfrm>
            <a:off x="916054" y="3724769"/>
            <a:ext cx="6820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rPr>
              <a:t>LearnLoop</a:t>
            </a:r>
            <a:endParaRPr/>
          </a:p>
        </p:txBody>
      </p:sp>
      <p:sp>
        <p:nvSpPr>
          <p:cNvPr id="299" name="Google Shape;299;p19"/>
          <p:cNvSpPr txBox="1"/>
          <p:nvPr/>
        </p:nvSpPr>
        <p:spPr>
          <a:xfrm>
            <a:off x="916054" y="4039094"/>
            <a:ext cx="52920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B4740"/>
                </a:solidFill>
                <a:latin typeface="Nunito"/>
                <a:ea typeface="Nunito"/>
                <a:cs typeface="Nunito"/>
                <a:sym typeface="Nunito"/>
              </a:rPr>
              <a:t>A patient practice partner for students to learn and think aloud in their own language, on the device they already have.</a:t>
            </a:r>
            <a:endParaRPr/>
          </a:p>
        </p:txBody>
      </p:sp>
      <p:sp>
        <p:nvSpPr>
          <p:cNvPr id="300" name="Google Shape;300;p19"/>
          <p:cNvSpPr txBox="1"/>
          <p:nvPr/>
        </p:nvSpPr>
        <p:spPr>
          <a:xfrm>
            <a:off x="916051" y="4606725"/>
            <a:ext cx="52920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BC6C25"/>
                </a:solidFill>
                <a:latin typeface="Nunito"/>
                <a:ea typeface="Nunito"/>
                <a:cs typeface="Nunito"/>
                <a:sym typeface="Nunito"/>
              </a:rPr>
              <a:t>Stage</a:t>
            </a:r>
            <a:r>
              <a:rPr b="1" lang="en-US" sz="975">
                <a:solidFill>
                  <a:srgbClr val="BC6C25"/>
                </a:solidFill>
                <a:latin typeface="Nunito"/>
                <a:ea typeface="Nunito"/>
                <a:cs typeface="Nunito"/>
                <a:sym typeface="Nunito"/>
              </a:rPr>
              <a:t>: Phase 1 Development, battle testing is completed, Field testing with 10 rural students in addition to  teaching AI technology for 5 hours a week</a:t>
            </a:r>
            <a:endParaRPr/>
          </a:p>
        </p:txBody>
      </p:sp>
      <p:sp>
        <p:nvSpPr>
          <p:cNvPr id="301" name="Google Shape;301;p19"/>
          <p:cNvSpPr txBox="1"/>
          <p:nvPr/>
        </p:nvSpPr>
        <p:spPr>
          <a:xfrm>
            <a:off x="7103715" y="1495411"/>
            <a:ext cx="1762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E7D32"/>
                </a:solidFill>
                <a:latin typeface="Nunito"/>
                <a:ea typeface="Nunito"/>
                <a:cs typeface="Nunito"/>
                <a:sym typeface="Nunito"/>
              </a:rPr>
              <a:t>AgriLens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>
            <a:off x="10146988" y="1469885"/>
            <a:ext cx="1762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86641"/>
                </a:solidFill>
                <a:latin typeface="Nunito"/>
                <a:ea typeface="Nunito"/>
                <a:cs typeface="Nunito"/>
                <a:sym typeface="Nunito"/>
              </a:rPr>
              <a:t>LearnLoop</a:t>
            </a:r>
            <a:endParaRPr/>
          </a:p>
        </p:txBody>
      </p:sp>
      <p:pic>
        <p:nvPicPr>
          <p:cNvPr descr="image.png" id="303" name="Google Shape;30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8328" y="115696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57593" y="1673000"/>
            <a:ext cx="2525375" cy="445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25425" y="1695700"/>
            <a:ext cx="2339900" cy="43574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94757" y="1204578"/>
            <a:ext cx="26670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9F5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0"/>
          <p:cNvSpPr/>
          <p:nvPr/>
        </p:nvSpPr>
        <p:spPr>
          <a:xfrm>
            <a:off x="723900" y="6200775"/>
            <a:ext cx="107442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723900" y="1634425"/>
            <a:ext cx="4721700" cy="4566300"/>
          </a:xfrm>
          <a:prstGeom prst="roundRect">
            <a:avLst>
              <a:gd fmla="val 4171" name="adj"/>
            </a:avLst>
          </a:prstGeom>
          <a:solidFill>
            <a:srgbClr val="F2EDE4"/>
          </a:solidFill>
          <a:ln cap="flat" cmpd="sng" w="19050">
            <a:solidFill>
              <a:srgbClr val="BC6C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0"/>
          <p:cNvSpPr/>
          <p:nvPr/>
        </p:nvSpPr>
        <p:spPr>
          <a:xfrm>
            <a:off x="723900" y="6200775"/>
            <a:ext cx="10744200" cy="9525"/>
          </a:xfrm>
          <a:prstGeom prst="rect">
            <a:avLst/>
          </a:prstGeom>
          <a:solidFill>
            <a:srgbClr val="E3DE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1009650" y="1920180"/>
            <a:ext cx="523875" cy="228600"/>
          </a:xfrm>
          <a:prstGeom prst="roundRect">
            <a:avLst>
              <a:gd fmla="val 25000" name="adj"/>
            </a:avLst>
          </a:prstGeom>
          <a:solidFill>
            <a:srgbClr val="BC6C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5" name="Google Shape;3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650" y="271075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650" y="303460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650" y="335845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650" y="368230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0"/>
          <p:cNvSpPr txBox="1"/>
          <p:nvPr/>
        </p:nvSpPr>
        <p:spPr>
          <a:xfrm>
            <a:off x="723900" y="457200"/>
            <a:ext cx="11468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BC6C25"/>
                </a:solidFill>
                <a:latin typeface="Quicksand"/>
                <a:ea typeface="Quicksand"/>
                <a:cs typeface="Quicksand"/>
                <a:sym typeface="Quicksand"/>
              </a:rPr>
              <a:t>FLEETS AND NEXT SECTORS</a:t>
            </a:r>
            <a:endParaRPr/>
          </a:p>
        </p:txBody>
      </p:sp>
      <p:sp>
        <p:nvSpPr>
          <p:cNvPr id="320" name="Google Shape;320;p20"/>
          <p:cNvSpPr txBox="1"/>
          <p:nvPr/>
        </p:nvSpPr>
        <p:spPr>
          <a:xfrm>
            <a:off x="723900" y="666750"/>
            <a:ext cx="11381422" cy="7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rPr>
              <a:t>Fleets are our earliest revenue wedge. Health and environment come next on the same engine.</a:t>
            </a:r>
            <a:endParaRPr/>
          </a:p>
        </p:txBody>
      </p:sp>
      <p:sp>
        <p:nvSpPr>
          <p:cNvPr id="321" name="Google Shape;321;p20"/>
          <p:cNvSpPr txBox="1"/>
          <p:nvPr/>
        </p:nvSpPr>
        <p:spPr>
          <a:xfrm>
            <a:off x="723900" y="6324600"/>
            <a:ext cx="18811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07D74"/>
                </a:solidFill>
                <a:latin typeface="Nunito"/>
                <a:ea typeface="Nunito"/>
                <a:cs typeface="Nunito"/>
                <a:sym typeface="Nunito"/>
              </a:rPr>
              <a:t>VYOMAA LABS | PocketMind</a:t>
            </a:r>
            <a:endParaRPr/>
          </a:p>
        </p:txBody>
      </p:sp>
      <p:sp>
        <p:nvSpPr>
          <p:cNvPr id="322" name="Google Shape;322;p20"/>
          <p:cNvSpPr txBox="1"/>
          <p:nvPr/>
        </p:nvSpPr>
        <p:spPr>
          <a:xfrm>
            <a:off x="11182350" y="6324600"/>
            <a:ext cx="571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07D74"/>
                </a:solidFill>
                <a:latin typeface="Nunito"/>
                <a:ea typeface="Nunito"/>
                <a:cs typeface="Nunito"/>
                <a:sym typeface="Nunito"/>
              </a:rPr>
              <a:t>6 / 12</a:t>
            </a:r>
            <a:endParaRPr/>
          </a:p>
        </p:txBody>
      </p:sp>
      <p:sp>
        <p:nvSpPr>
          <p:cNvPr id="323" name="Google Shape;323;p20"/>
          <p:cNvSpPr txBox="1"/>
          <p:nvPr/>
        </p:nvSpPr>
        <p:spPr>
          <a:xfrm>
            <a:off x="1009650" y="4901000"/>
            <a:ext cx="39255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5" u="none" cap="none" strike="noStrike">
                <a:solidFill>
                  <a:srgbClr val="BC6C25"/>
                </a:solidFill>
                <a:latin typeface="Nunito"/>
                <a:ea typeface="Nunito"/>
                <a:cs typeface="Nunito"/>
                <a:sym typeface="Nunito"/>
              </a:rPr>
              <a:t>Stage: </a:t>
            </a:r>
            <a:r>
              <a:rPr b="1" lang="en-US" sz="1075">
                <a:solidFill>
                  <a:srgbClr val="BC6C25"/>
                </a:solidFill>
                <a:latin typeface="Nunito"/>
                <a:ea typeface="Nunito"/>
                <a:cs typeface="Nunito"/>
                <a:sym typeface="Nunito"/>
              </a:rPr>
              <a:t>Crash detection </a:t>
            </a:r>
            <a:r>
              <a:rPr b="1" lang="en-US" sz="1075">
                <a:solidFill>
                  <a:srgbClr val="BC6C25"/>
                </a:solidFill>
                <a:latin typeface="Nunito"/>
                <a:ea typeface="Nunito"/>
                <a:cs typeface="Nunito"/>
                <a:sym typeface="Nunito"/>
              </a:rPr>
              <a:t>development</a:t>
            </a:r>
            <a:r>
              <a:rPr b="1" lang="en-US" sz="1075">
                <a:solidFill>
                  <a:srgbClr val="BC6C25"/>
                </a:solidFill>
                <a:latin typeface="Nunito"/>
                <a:ea typeface="Nunito"/>
                <a:cs typeface="Nunito"/>
                <a:sym typeface="Nunito"/>
              </a:rPr>
              <a:t> and driver behaviour scoring is completed and battle testing with various datasets. </a:t>
            </a:r>
            <a:r>
              <a:rPr b="1" lang="en-US" sz="1075">
                <a:solidFill>
                  <a:srgbClr val="BC6C25"/>
                </a:solidFill>
                <a:latin typeface="Nunito"/>
                <a:ea typeface="Nunito"/>
                <a:cs typeface="Nunito"/>
                <a:sym typeface="Nunito"/>
              </a:rPr>
              <a:t>Field</a:t>
            </a:r>
            <a:r>
              <a:rPr b="1" lang="en-US" sz="1075">
                <a:solidFill>
                  <a:srgbClr val="BC6C25"/>
                </a:solidFill>
                <a:latin typeface="Nunito"/>
                <a:ea typeface="Nunito"/>
                <a:cs typeface="Nunito"/>
                <a:sym typeface="Nunito"/>
              </a:rPr>
              <a:t> testing </a:t>
            </a:r>
            <a:r>
              <a:rPr b="1" lang="en-US" sz="1075">
                <a:solidFill>
                  <a:srgbClr val="BC6C25"/>
                </a:solidFill>
                <a:latin typeface="Nunito"/>
                <a:ea typeface="Nunito"/>
                <a:cs typeface="Nunito"/>
                <a:sym typeface="Nunito"/>
              </a:rPr>
              <a:t>collaboration</a:t>
            </a:r>
            <a:r>
              <a:rPr b="1" lang="en-US" sz="1075">
                <a:solidFill>
                  <a:srgbClr val="BC6C25"/>
                </a:solidFill>
                <a:latin typeface="Nunito"/>
                <a:ea typeface="Nunito"/>
                <a:cs typeface="Nunito"/>
                <a:sym typeface="Nunito"/>
              </a:rPr>
              <a:t> is done with Local </a:t>
            </a:r>
            <a:r>
              <a:rPr b="1" lang="en-US" sz="1075">
                <a:solidFill>
                  <a:srgbClr val="BC6C25"/>
                </a:solidFill>
                <a:latin typeface="Nunito"/>
                <a:ea typeface="Nunito"/>
                <a:cs typeface="Nunito"/>
                <a:sym typeface="Nunito"/>
              </a:rPr>
              <a:t>Private</a:t>
            </a:r>
            <a:r>
              <a:rPr b="1" lang="en-US" sz="1075">
                <a:solidFill>
                  <a:srgbClr val="BC6C25"/>
                </a:solidFill>
                <a:latin typeface="Nunito"/>
                <a:ea typeface="Nunito"/>
                <a:cs typeface="Nunito"/>
                <a:sym typeface="Nunito"/>
              </a:rPr>
              <a:t> Transportation.</a:t>
            </a:r>
            <a:endParaRPr sz="1500"/>
          </a:p>
        </p:txBody>
      </p:sp>
      <p:sp>
        <p:nvSpPr>
          <p:cNvPr id="324" name="Google Shape;324;p20"/>
          <p:cNvSpPr txBox="1"/>
          <p:nvPr/>
        </p:nvSpPr>
        <p:spPr>
          <a:xfrm>
            <a:off x="1123950" y="1958280"/>
            <a:ext cx="3905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NOW</a:t>
            </a:r>
            <a:endParaRPr/>
          </a:p>
        </p:txBody>
      </p:sp>
      <p:sp>
        <p:nvSpPr>
          <p:cNvPr id="325" name="Google Shape;325;p20"/>
          <p:cNvSpPr txBox="1"/>
          <p:nvPr/>
        </p:nvSpPr>
        <p:spPr>
          <a:xfrm>
            <a:off x="1384034" y="2263075"/>
            <a:ext cx="3247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rPr>
              <a:t>Edge AI fleet unit</a:t>
            </a:r>
            <a:endParaRPr/>
          </a:p>
        </p:txBody>
      </p:sp>
      <p:sp>
        <p:nvSpPr>
          <p:cNvPr id="326" name="Google Shape;326;p20"/>
          <p:cNvSpPr txBox="1"/>
          <p:nvPr/>
        </p:nvSpPr>
        <p:spPr>
          <a:xfrm>
            <a:off x="1276350" y="2682180"/>
            <a:ext cx="13716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B4740"/>
                </a:solidFill>
                <a:latin typeface="Nunito"/>
                <a:ea typeface="Nunito"/>
                <a:cs typeface="Nunito"/>
                <a:sym typeface="Nunito"/>
              </a:rPr>
              <a:t>Crash detection</a:t>
            </a:r>
            <a:endParaRPr/>
          </a:p>
        </p:txBody>
      </p:sp>
      <p:sp>
        <p:nvSpPr>
          <p:cNvPr id="327" name="Google Shape;327;p20"/>
          <p:cNvSpPr txBox="1"/>
          <p:nvPr/>
        </p:nvSpPr>
        <p:spPr>
          <a:xfrm>
            <a:off x="1276350" y="3006030"/>
            <a:ext cx="246459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B4740"/>
                </a:solidFill>
                <a:latin typeface="Nunito"/>
                <a:ea typeface="Nunito"/>
                <a:cs typeface="Nunito"/>
                <a:sym typeface="Nunito"/>
              </a:rPr>
              <a:t>EV battery health estimation</a:t>
            </a:r>
            <a:endParaRPr/>
          </a:p>
        </p:txBody>
      </p:sp>
      <p:sp>
        <p:nvSpPr>
          <p:cNvPr id="328" name="Google Shape;328;p20"/>
          <p:cNvSpPr txBox="1"/>
          <p:nvPr/>
        </p:nvSpPr>
        <p:spPr>
          <a:xfrm>
            <a:off x="1276350" y="3329880"/>
            <a:ext cx="2095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B4740"/>
                </a:solidFill>
                <a:latin typeface="Nunito"/>
                <a:ea typeface="Nunito"/>
                <a:cs typeface="Nunito"/>
                <a:sym typeface="Nunito"/>
              </a:rPr>
              <a:t>Driver behaviour scoring</a:t>
            </a:r>
            <a:endParaRPr/>
          </a:p>
        </p:txBody>
      </p:sp>
      <p:sp>
        <p:nvSpPr>
          <p:cNvPr id="329" name="Google Shape;329;p20"/>
          <p:cNvSpPr txBox="1"/>
          <p:nvPr/>
        </p:nvSpPr>
        <p:spPr>
          <a:xfrm>
            <a:off x="1276350" y="3653730"/>
            <a:ext cx="31908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B4740"/>
                </a:solidFill>
                <a:latin typeface="Nunito"/>
                <a:ea typeface="Nunito"/>
                <a:cs typeface="Nunito"/>
                <a:sym typeface="Nunito"/>
              </a:rPr>
              <a:t>Works offline, syncs when connected</a:t>
            </a:r>
            <a:endParaRPr/>
          </a:p>
        </p:txBody>
      </p:sp>
      <p:pic>
        <p:nvPicPr>
          <p:cNvPr id="330" name="Google Shape;33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28616" y="1110750"/>
            <a:ext cx="2353900" cy="50899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7353" y="2299554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7850" y="1208625"/>
            <a:ext cx="2464600" cy="4865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21"/>
          <p:cNvGrpSpPr/>
          <p:nvPr/>
        </p:nvGrpSpPr>
        <p:grpSpPr>
          <a:xfrm>
            <a:off x="723900" y="428625"/>
            <a:ext cx="5143500" cy="590550"/>
            <a:chOff x="0" y="0"/>
            <a:chExt cx="5143500" cy="590550"/>
          </a:xfrm>
        </p:grpSpPr>
        <p:sp>
          <p:nvSpPr>
            <p:cNvPr id="338" name="Google Shape;338;p21"/>
            <p:cNvSpPr txBox="1"/>
            <p:nvPr/>
          </p:nvSpPr>
          <p:spPr>
            <a:xfrm>
              <a:off x="0" y="0"/>
              <a:ext cx="5143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75">
                  <a:solidFill>
                    <a:srgbClr val="BC6C25"/>
                  </a:solidFill>
                  <a:latin typeface="Quicksand"/>
                  <a:ea typeface="Quicksand"/>
                  <a:cs typeface="Quicksand"/>
                  <a:sym typeface="Quicksand"/>
                </a:rPr>
                <a:t>BENCHMARKS &amp; PERFORMANCE</a:t>
              </a:r>
              <a:endParaRPr b="1" sz="975">
                <a:solidFill>
                  <a:srgbClr val="BC6C25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39" name="Google Shape;339;p21"/>
            <p:cNvSpPr txBox="1"/>
            <p:nvPr/>
          </p:nvSpPr>
          <p:spPr>
            <a:xfrm>
              <a:off x="0" y="209550"/>
              <a:ext cx="5143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1E3324"/>
                  </a:solidFill>
                  <a:latin typeface="Quicksand"/>
                  <a:ea typeface="Quicksand"/>
                  <a:cs typeface="Quicksand"/>
                  <a:sym typeface="Quicksand"/>
                </a:rPr>
                <a:t>Measured, not estimated.</a:t>
              </a:r>
              <a:endParaRPr b="1" sz="2200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340" name="Google Shape;340;p21"/>
          <p:cNvGrpSpPr/>
          <p:nvPr/>
        </p:nvGrpSpPr>
        <p:grpSpPr>
          <a:xfrm>
            <a:off x="723900" y="1095375"/>
            <a:ext cx="5143500" cy="495300"/>
            <a:chOff x="0" y="0"/>
            <a:chExt cx="5143500" cy="495300"/>
          </a:xfrm>
        </p:grpSpPr>
        <p:sp>
          <p:nvSpPr>
            <p:cNvPr id="341" name="Google Shape;341;p21"/>
            <p:cNvSpPr/>
            <p:nvPr/>
          </p:nvSpPr>
          <p:spPr>
            <a:xfrm>
              <a:off x="0" y="0"/>
              <a:ext cx="5143500" cy="495300"/>
            </a:xfrm>
            <a:prstGeom prst="roundRect">
              <a:avLst>
                <a:gd fmla="val 19230" name="adj"/>
              </a:avLst>
            </a:prstGeom>
            <a:solidFill>
              <a:srgbClr val="F2EDE4"/>
            </a:solidFill>
            <a:ln cap="flat" cmpd="sng" w="9525">
              <a:solidFill>
                <a:srgbClr val="E3DEC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1"/>
            <p:cNvSpPr txBox="1"/>
            <p:nvPr/>
          </p:nvSpPr>
          <p:spPr>
            <a:xfrm>
              <a:off x="133350" y="76200"/>
              <a:ext cx="4876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3B4740"/>
                  </a:solidFill>
                  <a:latin typeface="Nunito"/>
                  <a:ea typeface="Nunito"/>
                  <a:cs typeface="Nunito"/>
                  <a:sym typeface="Nunito"/>
                </a:rPr>
                <a:t>Tested on: </a:t>
              </a:r>
              <a:r>
                <a:rPr b="1" lang="en-US" sz="950">
                  <a:solidFill>
                    <a:srgbClr val="1E3324"/>
                  </a:solidFill>
                  <a:latin typeface="Nunito"/>
                  <a:ea typeface="Nunito"/>
                  <a:cs typeface="Nunito"/>
                  <a:sym typeface="Nunito"/>
                </a:rPr>
                <a:t>Redmi 24116RNC1I · Android 16 · 3.5GB RAM</a:t>
              </a:r>
              <a:r>
                <a:rPr b="0" lang="en-US" sz="950">
                  <a:solidFill>
                    <a:srgbClr val="3B4740"/>
                  </a:solidFill>
                  <a:latin typeface="Nunito"/>
                  <a:ea typeface="Nunito"/>
                  <a:cs typeface="Nunito"/>
                  <a:sym typeface="Nunito"/>
                </a:rPr>
                <a:t> (~1.6GB idle free). No laptop numbers used.</a:t>
              </a:r>
              <a:endParaRPr b="0" sz="950">
                <a:solidFill>
                  <a:srgbClr val="3B474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343" name="Google Shape;343;p21"/>
          <p:cNvGrpSpPr/>
          <p:nvPr/>
        </p:nvGrpSpPr>
        <p:grpSpPr>
          <a:xfrm>
            <a:off x="723900" y="1685925"/>
            <a:ext cx="5143500" cy="1476300"/>
            <a:chOff x="0" y="0"/>
            <a:chExt cx="5143500" cy="1476300"/>
          </a:xfrm>
        </p:grpSpPr>
        <p:sp>
          <p:nvSpPr>
            <p:cNvPr id="344" name="Google Shape;344;p21"/>
            <p:cNvSpPr/>
            <p:nvPr/>
          </p:nvSpPr>
          <p:spPr>
            <a:xfrm>
              <a:off x="0" y="0"/>
              <a:ext cx="5143500" cy="1476300"/>
            </a:xfrm>
            <a:prstGeom prst="roundRect">
              <a:avLst>
                <a:gd fmla="val 6451" name="adj"/>
              </a:avLst>
            </a:prstGeom>
            <a:solidFill>
              <a:srgbClr val="FFFFFF"/>
            </a:solidFill>
            <a:ln cap="flat" cmpd="sng" w="9525">
              <a:solidFill>
                <a:srgbClr val="E3DEC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1"/>
            <p:cNvSpPr/>
            <p:nvPr/>
          </p:nvSpPr>
          <p:spPr>
            <a:xfrm>
              <a:off x="0" y="0"/>
              <a:ext cx="5143500" cy="285900"/>
            </a:xfrm>
            <a:prstGeom prst="roundRect">
              <a:avLst>
                <a:gd fmla="val 33333" name="adj"/>
              </a:avLst>
            </a:prstGeom>
            <a:solidFill>
              <a:srgbClr val="F2EDE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46" name="Google Shape;346;p21"/>
            <p:cNvCxnSpPr/>
            <p:nvPr/>
          </p:nvCxnSpPr>
          <p:spPr>
            <a:xfrm>
              <a:off x="0" y="285750"/>
              <a:ext cx="5143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3DEC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7" name="Google Shape;347;p21"/>
            <p:cNvCxnSpPr/>
            <p:nvPr/>
          </p:nvCxnSpPr>
          <p:spPr>
            <a:xfrm>
              <a:off x="0" y="876300"/>
              <a:ext cx="5143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3DEC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48" name="Google Shape;348;p21"/>
            <p:cNvSpPr txBox="1"/>
            <p:nvPr/>
          </p:nvSpPr>
          <p:spPr>
            <a:xfrm>
              <a:off x="133350" y="57150"/>
              <a:ext cx="1524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3324"/>
                  </a:solidFill>
                  <a:latin typeface="Quicksand"/>
                  <a:ea typeface="Quicksand"/>
                  <a:cs typeface="Quicksand"/>
                  <a:sym typeface="Quicksand"/>
                </a:rPr>
                <a:t>Model</a:t>
              </a:r>
              <a:endParaRPr b="1" sz="1000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49" name="Google Shape;349;p21"/>
            <p:cNvSpPr txBox="1"/>
            <p:nvPr/>
          </p:nvSpPr>
          <p:spPr>
            <a:xfrm>
              <a:off x="1714500" y="57150"/>
              <a:ext cx="1238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3324"/>
                  </a:solidFill>
                  <a:latin typeface="Quicksand"/>
                  <a:ea typeface="Quicksand"/>
                  <a:cs typeface="Quicksand"/>
                  <a:sym typeface="Quicksand"/>
                </a:rPr>
                <a:t>Answer time</a:t>
              </a:r>
              <a:endParaRPr b="1" sz="1000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50" name="Google Shape;350;p21"/>
            <p:cNvSpPr txBox="1"/>
            <p:nvPr/>
          </p:nvSpPr>
          <p:spPr>
            <a:xfrm>
              <a:off x="3048000" y="57150"/>
              <a:ext cx="1962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3324"/>
                  </a:solidFill>
                  <a:latin typeface="Quicksand"/>
                  <a:ea typeface="Quicksand"/>
                  <a:cs typeface="Quicksand"/>
                  <a:sym typeface="Quicksand"/>
                </a:rPr>
                <a:t>Quality</a:t>
              </a:r>
              <a:endParaRPr b="1" sz="1000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51" name="Google Shape;351;p21"/>
            <p:cNvSpPr txBox="1"/>
            <p:nvPr/>
          </p:nvSpPr>
          <p:spPr>
            <a:xfrm>
              <a:off x="133350" y="342900"/>
              <a:ext cx="1524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3324"/>
                  </a:solidFill>
                  <a:latin typeface="Nunito"/>
                  <a:ea typeface="Nunito"/>
                  <a:cs typeface="Nunito"/>
                  <a:sym typeface="Nunito"/>
                </a:rPr>
                <a:t>1.5B params</a:t>
              </a:r>
              <a:endParaRPr b="1" sz="1000">
                <a:solidFill>
                  <a:srgbClr val="1E3324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707D74"/>
                  </a:solidFill>
                  <a:latin typeface="Nunito"/>
                  <a:ea typeface="Nunito"/>
                  <a:cs typeface="Nunito"/>
                  <a:sym typeface="Nunito"/>
                </a:rPr>
                <a:t>Q4_K_M quantized</a:t>
              </a:r>
              <a:endParaRPr b="0" sz="850">
                <a:solidFill>
                  <a:srgbClr val="707D74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52" name="Google Shape;352;p21"/>
            <p:cNvSpPr txBox="1"/>
            <p:nvPr/>
          </p:nvSpPr>
          <p:spPr>
            <a:xfrm>
              <a:off x="1714500" y="342900"/>
              <a:ext cx="1238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BC6C25"/>
                  </a:solidFill>
                  <a:latin typeface="Nunito"/>
                  <a:ea typeface="Nunito"/>
                  <a:cs typeface="Nunito"/>
                  <a:sym typeface="Nunito"/>
                </a:rPr>
                <a:t>42–84s</a:t>
              </a:r>
              <a:endParaRPr b="1" sz="1000">
                <a:solidFill>
                  <a:srgbClr val="BC6C25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53" name="Google Shape;353;p21"/>
            <p:cNvSpPr txBox="1"/>
            <p:nvPr/>
          </p:nvSpPr>
          <p:spPr>
            <a:xfrm>
              <a:off x="3048000" y="342900"/>
              <a:ext cx="19623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3B4740"/>
                  </a:solidFill>
                  <a:latin typeface="Nunito"/>
                  <a:ea typeface="Nunito"/>
                  <a:cs typeface="Nunito"/>
                  <a:sym typeface="Nunito"/>
                </a:rPr>
                <a:t>Correct, grounded, no hallucination</a:t>
              </a:r>
              <a:endParaRPr b="0" sz="950">
                <a:solidFill>
                  <a:srgbClr val="3B474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54" name="Google Shape;354;p21"/>
            <p:cNvSpPr txBox="1"/>
            <p:nvPr/>
          </p:nvSpPr>
          <p:spPr>
            <a:xfrm>
              <a:off x="133350" y="933450"/>
              <a:ext cx="1524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3324"/>
                  </a:solidFill>
                  <a:latin typeface="Nunito"/>
                  <a:ea typeface="Nunito"/>
                  <a:cs typeface="Nunito"/>
                  <a:sym typeface="Nunito"/>
                </a:rPr>
                <a:t>0.5B params</a:t>
              </a:r>
              <a:endParaRPr b="1" sz="1000">
                <a:solidFill>
                  <a:srgbClr val="1E3324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707D74"/>
                  </a:solidFill>
                  <a:latin typeface="Nunito"/>
                  <a:ea typeface="Nunito"/>
                  <a:cs typeface="Nunito"/>
                  <a:sym typeface="Nunito"/>
                </a:rPr>
                <a:t>task-tuned layers</a:t>
              </a:r>
              <a:endParaRPr b="0" sz="850">
                <a:solidFill>
                  <a:srgbClr val="707D74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55" name="Google Shape;355;p21"/>
            <p:cNvSpPr txBox="1"/>
            <p:nvPr/>
          </p:nvSpPr>
          <p:spPr>
            <a:xfrm>
              <a:off x="1714500" y="933450"/>
              <a:ext cx="1238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2E7D32"/>
                  </a:solidFill>
                  <a:latin typeface="Nunito"/>
                  <a:ea typeface="Nunito"/>
                  <a:cs typeface="Nunito"/>
                  <a:sym typeface="Nunito"/>
                </a:rPr>
                <a:t>15.3s </a:t>
              </a:r>
              <a:r>
                <a:rPr b="0" lang="en-US" sz="850">
                  <a:solidFill>
                    <a:srgbClr val="3B4740"/>
                  </a:solidFill>
                  <a:latin typeface="Nunito"/>
                  <a:ea typeface="Nunito"/>
                  <a:cs typeface="Nunito"/>
                  <a:sym typeface="Nunito"/>
                </a:rPr>
                <a:t>single</a:t>
              </a:r>
              <a:endParaRPr b="1" sz="950">
                <a:solidFill>
                  <a:srgbClr val="2E7D3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BC6C25"/>
                  </a:solidFill>
                  <a:latin typeface="Nunito"/>
                  <a:ea typeface="Nunito"/>
                  <a:cs typeface="Nunito"/>
                  <a:sym typeface="Nunito"/>
                </a:rPr>
                <a:t>15–55s </a:t>
              </a:r>
              <a:r>
                <a:rPr b="0" lang="en-US" sz="850">
                  <a:solidFill>
                    <a:srgbClr val="3B4740"/>
                  </a:solidFill>
                  <a:latin typeface="Nunito"/>
                  <a:ea typeface="Nunito"/>
                  <a:cs typeface="Nunito"/>
                  <a:sym typeface="Nunito"/>
                </a:rPr>
                <a:t>load</a:t>
              </a:r>
              <a:endParaRPr b="1" sz="950">
                <a:solidFill>
                  <a:srgbClr val="BC6C25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56" name="Google Shape;356;p21"/>
            <p:cNvSpPr txBox="1"/>
            <p:nvPr/>
          </p:nvSpPr>
          <p:spPr>
            <a:xfrm>
              <a:off x="3048000" y="933450"/>
              <a:ext cx="19623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3B4740"/>
                  </a:solidFill>
                  <a:latin typeface="Nunito"/>
                  <a:ea typeface="Nunito"/>
                  <a:cs typeface="Nunito"/>
                  <a:sym typeface="Nunito"/>
                </a:rPr>
                <a:t>Correct, grounded — zero quality loss</a:t>
              </a:r>
              <a:endParaRPr b="0" sz="950">
                <a:solidFill>
                  <a:srgbClr val="3B474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357" name="Google Shape;357;p21"/>
          <p:cNvGrpSpPr/>
          <p:nvPr/>
        </p:nvGrpSpPr>
        <p:grpSpPr>
          <a:xfrm>
            <a:off x="723900" y="3257550"/>
            <a:ext cx="5143650" cy="1771650"/>
            <a:chOff x="0" y="0"/>
            <a:chExt cx="5143650" cy="1771650"/>
          </a:xfrm>
        </p:grpSpPr>
        <p:grpSp>
          <p:nvGrpSpPr>
            <p:cNvPr id="358" name="Google Shape;358;p21"/>
            <p:cNvGrpSpPr/>
            <p:nvPr/>
          </p:nvGrpSpPr>
          <p:grpSpPr>
            <a:xfrm>
              <a:off x="0" y="0"/>
              <a:ext cx="2495700" cy="838200"/>
              <a:chOff x="0" y="0"/>
              <a:chExt cx="2495700" cy="838200"/>
            </a:xfrm>
          </p:grpSpPr>
          <p:sp>
            <p:nvSpPr>
              <p:cNvPr id="359" name="Google Shape;359;p21"/>
              <p:cNvSpPr/>
              <p:nvPr/>
            </p:nvSpPr>
            <p:spPr>
              <a:xfrm>
                <a:off x="0" y="0"/>
                <a:ext cx="2495700" cy="838200"/>
              </a:xfrm>
              <a:prstGeom prst="roundRect">
                <a:avLst>
                  <a:gd fmla="val 11363" name="adj"/>
                </a:avLst>
              </a:prstGeom>
              <a:solidFill>
                <a:srgbClr val="F2EDE4"/>
              </a:solidFill>
              <a:ln cap="flat" cmpd="sng" w="9525">
                <a:solidFill>
                  <a:srgbClr val="E3DEC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21"/>
              <p:cNvSpPr txBox="1"/>
              <p:nvPr/>
            </p:nvSpPr>
            <p:spPr>
              <a:xfrm>
                <a:off x="133350" y="95250"/>
                <a:ext cx="2229000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BC6C25"/>
                    </a:solidFill>
                    <a:latin typeface="Nunito"/>
                    <a:ea typeface="Nunito"/>
                    <a:cs typeface="Nunito"/>
                    <a:sym typeface="Nunito"/>
                  </a:rPr>
                  <a:t>THERMALS</a:t>
                </a:r>
                <a:endParaRPr b="1" sz="900">
                  <a:solidFill>
                    <a:srgbClr val="BC6C25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1E3324"/>
                    </a:solidFill>
                    <a:latin typeface="Quicksand"/>
                    <a:ea typeface="Quicksand"/>
                    <a:cs typeface="Quicksand"/>
                    <a:sym typeface="Quicksand"/>
                  </a:rPr>
                  <a:t>34.0°C → 35.0°C</a:t>
                </a:r>
                <a:endParaRPr b="1" sz="1500">
                  <a:solidFill>
                    <a:srgbClr val="1E3324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850">
                    <a:solidFill>
                      <a:srgbClr val="3B4740"/>
                    </a:solidFill>
                    <a:latin typeface="Nunito"/>
                    <a:ea typeface="Nunito"/>
                    <a:cs typeface="Nunito"/>
                    <a:sym typeface="Nunito"/>
                  </a:rPr>
                  <a:t>Battery temp across ~25-call run</a:t>
                </a:r>
                <a:endParaRPr sz="850">
                  <a:solidFill>
                    <a:srgbClr val="3B4740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361" name="Google Shape;361;p21"/>
            <p:cNvGrpSpPr/>
            <p:nvPr/>
          </p:nvGrpSpPr>
          <p:grpSpPr>
            <a:xfrm>
              <a:off x="2647950" y="0"/>
              <a:ext cx="2495700" cy="838200"/>
              <a:chOff x="0" y="0"/>
              <a:chExt cx="2495700" cy="838200"/>
            </a:xfrm>
          </p:grpSpPr>
          <p:sp>
            <p:nvSpPr>
              <p:cNvPr id="362" name="Google Shape;362;p21"/>
              <p:cNvSpPr/>
              <p:nvPr/>
            </p:nvSpPr>
            <p:spPr>
              <a:xfrm>
                <a:off x="0" y="0"/>
                <a:ext cx="2495700" cy="838200"/>
              </a:xfrm>
              <a:prstGeom prst="roundRect">
                <a:avLst>
                  <a:gd fmla="val 11363" name="adj"/>
                </a:avLst>
              </a:prstGeom>
              <a:solidFill>
                <a:srgbClr val="F2EDE4"/>
              </a:solidFill>
              <a:ln cap="flat" cmpd="sng" w="9525">
                <a:solidFill>
                  <a:srgbClr val="E3DEC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21"/>
              <p:cNvSpPr txBox="1"/>
              <p:nvPr/>
            </p:nvSpPr>
            <p:spPr>
              <a:xfrm>
                <a:off x="133350" y="95250"/>
                <a:ext cx="2229000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BC6C25"/>
                    </a:solidFill>
                    <a:latin typeface="Nunito"/>
                    <a:ea typeface="Nunito"/>
                    <a:cs typeface="Nunito"/>
                    <a:sym typeface="Nunito"/>
                  </a:rPr>
                  <a:t>MEMORY FOOTPRINT</a:t>
                </a:r>
                <a:endParaRPr b="1" sz="900">
                  <a:solidFill>
                    <a:srgbClr val="BC6C25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1E3324"/>
                    </a:solidFill>
                    <a:latin typeface="Quicksand"/>
                    <a:ea typeface="Quicksand"/>
                    <a:cs typeface="Quicksand"/>
                    <a:sym typeface="Quicksand"/>
                  </a:rPr>
                  <a:t>~30–50MB</a:t>
                </a:r>
                <a:endParaRPr b="1" sz="1500">
                  <a:solidFill>
                    <a:srgbClr val="1E3324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850">
                    <a:solidFill>
                      <a:srgbClr val="3B4740"/>
                    </a:solidFill>
                    <a:latin typeface="Nunito"/>
                    <a:ea typeface="Nunito"/>
                    <a:cs typeface="Nunito"/>
                    <a:sym typeface="Nunito"/>
                  </a:rPr>
                  <a:t>RAM truly free with model loaded</a:t>
                </a:r>
                <a:endParaRPr sz="850">
                  <a:solidFill>
                    <a:srgbClr val="3B4740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364" name="Google Shape;364;p21"/>
            <p:cNvGrpSpPr/>
            <p:nvPr/>
          </p:nvGrpSpPr>
          <p:grpSpPr>
            <a:xfrm>
              <a:off x="0" y="933450"/>
              <a:ext cx="2495700" cy="838200"/>
              <a:chOff x="0" y="0"/>
              <a:chExt cx="2495700" cy="838200"/>
            </a:xfrm>
          </p:grpSpPr>
          <p:sp>
            <p:nvSpPr>
              <p:cNvPr id="365" name="Google Shape;365;p21"/>
              <p:cNvSpPr/>
              <p:nvPr/>
            </p:nvSpPr>
            <p:spPr>
              <a:xfrm>
                <a:off x="0" y="0"/>
                <a:ext cx="2495700" cy="838200"/>
              </a:xfrm>
              <a:prstGeom prst="roundRect">
                <a:avLst>
                  <a:gd fmla="val 11363" name="adj"/>
                </a:avLst>
              </a:prstGeom>
              <a:solidFill>
                <a:srgbClr val="F2EDE4"/>
              </a:solidFill>
              <a:ln cap="flat" cmpd="sng" w="9525">
                <a:solidFill>
                  <a:srgbClr val="E3DEC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21"/>
              <p:cNvSpPr txBox="1"/>
              <p:nvPr/>
            </p:nvSpPr>
            <p:spPr>
              <a:xfrm>
                <a:off x="133350" y="95250"/>
                <a:ext cx="2229000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BC6C25"/>
                    </a:solidFill>
                    <a:latin typeface="Nunito"/>
                    <a:ea typeface="Nunito"/>
                    <a:cs typeface="Nunito"/>
                    <a:sym typeface="Nunito"/>
                  </a:rPr>
                  <a:t>AGRILENS</a:t>
                </a:r>
                <a:endParaRPr b="1" sz="900">
                  <a:solidFill>
                    <a:srgbClr val="BC6C25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2E7D32"/>
                    </a:solidFill>
                    <a:latin typeface="Quicksand"/>
                    <a:ea typeface="Quicksand"/>
                    <a:cs typeface="Quicksand"/>
                    <a:sym typeface="Quicksand"/>
                  </a:rPr>
                  <a:t>99.997%</a:t>
                </a:r>
                <a:endParaRPr b="1" sz="1500">
                  <a:solidFill>
                    <a:srgbClr val="2E7D32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850">
                    <a:solidFill>
                      <a:srgbClr val="3B4740"/>
                    </a:solidFill>
                    <a:latin typeface="Nunito"/>
                    <a:ea typeface="Nunito"/>
                    <a:cs typeface="Nunito"/>
                    <a:sym typeface="Nunito"/>
                  </a:rPr>
                  <a:t>Confidence on clean lab photo</a:t>
                </a:r>
                <a:endParaRPr sz="850">
                  <a:solidFill>
                    <a:srgbClr val="3B4740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367" name="Google Shape;367;p21"/>
            <p:cNvGrpSpPr/>
            <p:nvPr/>
          </p:nvGrpSpPr>
          <p:grpSpPr>
            <a:xfrm>
              <a:off x="2647950" y="933450"/>
              <a:ext cx="2495700" cy="838200"/>
              <a:chOff x="0" y="0"/>
              <a:chExt cx="2495700" cy="838200"/>
            </a:xfrm>
          </p:grpSpPr>
          <p:sp>
            <p:nvSpPr>
              <p:cNvPr id="368" name="Google Shape;368;p21"/>
              <p:cNvSpPr/>
              <p:nvPr/>
            </p:nvSpPr>
            <p:spPr>
              <a:xfrm>
                <a:off x="0" y="0"/>
                <a:ext cx="2495700" cy="838200"/>
              </a:xfrm>
              <a:prstGeom prst="roundRect">
                <a:avLst>
                  <a:gd fmla="val 11363" name="adj"/>
                </a:avLst>
              </a:prstGeom>
              <a:solidFill>
                <a:srgbClr val="F2EDE4"/>
              </a:solidFill>
              <a:ln cap="flat" cmpd="sng" w="9525">
                <a:solidFill>
                  <a:srgbClr val="E3DEC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21"/>
              <p:cNvSpPr txBox="1"/>
              <p:nvPr/>
            </p:nvSpPr>
            <p:spPr>
              <a:xfrm>
                <a:off x="133350" y="95250"/>
                <a:ext cx="2229000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BC6C25"/>
                    </a:solidFill>
                    <a:latin typeface="Nunito"/>
                    <a:ea typeface="Nunito"/>
                    <a:cs typeface="Nunito"/>
                    <a:sym typeface="Nunito"/>
                  </a:rPr>
                  <a:t>FLEET RISK</a:t>
                </a:r>
                <a:endParaRPr b="1" sz="900">
                  <a:solidFill>
                    <a:srgbClr val="BC6C25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1E3324"/>
                    </a:solidFill>
                    <a:latin typeface="Quicksand"/>
                    <a:ea typeface="Quicksand"/>
                    <a:cs typeface="Quicksand"/>
                    <a:sym typeface="Quicksand"/>
                  </a:rPr>
                  <a:t>54ms</a:t>
                </a:r>
                <a:endParaRPr b="1" sz="1500">
                  <a:solidFill>
                    <a:srgbClr val="1E3324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850">
                    <a:solidFill>
                      <a:srgbClr val="3B4740"/>
                    </a:solidFill>
                    <a:latin typeface="Nunito"/>
                    <a:ea typeface="Nunito"/>
                    <a:cs typeface="Nunito"/>
                    <a:sym typeface="Nunito"/>
                  </a:rPr>
                  <a:t>Full 1,034-row trip replay</a:t>
                </a:r>
                <a:endParaRPr sz="850">
                  <a:solidFill>
                    <a:srgbClr val="3B4740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</p:grpSp>
      <p:grpSp>
        <p:nvGrpSpPr>
          <p:cNvPr id="370" name="Google Shape;370;p21"/>
          <p:cNvGrpSpPr/>
          <p:nvPr/>
        </p:nvGrpSpPr>
        <p:grpSpPr>
          <a:xfrm>
            <a:off x="723900" y="5124450"/>
            <a:ext cx="5143500" cy="838200"/>
            <a:chOff x="0" y="0"/>
            <a:chExt cx="5143500" cy="838200"/>
          </a:xfrm>
        </p:grpSpPr>
        <p:sp>
          <p:nvSpPr>
            <p:cNvPr id="371" name="Google Shape;371;p21"/>
            <p:cNvSpPr/>
            <p:nvPr/>
          </p:nvSpPr>
          <p:spPr>
            <a:xfrm>
              <a:off x="0" y="0"/>
              <a:ext cx="51435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19050">
              <a:solidFill>
                <a:srgbClr val="BC6C2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1"/>
            <p:cNvSpPr txBox="1"/>
            <p:nvPr/>
          </p:nvSpPr>
          <p:spPr>
            <a:xfrm>
              <a:off x="133350" y="95250"/>
              <a:ext cx="48768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BC6C25"/>
                  </a:solidFill>
                  <a:latin typeface="Nunito"/>
                  <a:ea typeface="Nunito"/>
                  <a:cs typeface="Nunito"/>
                  <a:sym typeface="Nunito"/>
                </a:rPr>
                <a:t>On-device execution guarantee: </a:t>
              </a:r>
              <a:r>
                <a:rPr b="0" lang="en-US" sz="950">
                  <a:solidFill>
                    <a:srgbClr val="1E3324"/>
                  </a:solidFill>
                  <a:latin typeface="Nunito"/>
                  <a:ea typeface="Nunito"/>
                  <a:cs typeface="Nunito"/>
                  <a:sym typeface="Nunito"/>
                </a:rPr>
                <a:t>Zero cloud latency dependencies, full offline operation maintained across all edge intelligence workloads.</a:t>
              </a:r>
              <a:endParaRPr b="1" sz="950">
                <a:solidFill>
                  <a:srgbClr val="BC6C25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373" name="Google Shape;373;p21"/>
          <p:cNvGrpSpPr/>
          <p:nvPr/>
        </p:nvGrpSpPr>
        <p:grpSpPr>
          <a:xfrm>
            <a:off x="6191250" y="428625"/>
            <a:ext cx="5277000" cy="590550"/>
            <a:chOff x="0" y="0"/>
            <a:chExt cx="5277000" cy="590550"/>
          </a:xfrm>
        </p:grpSpPr>
        <p:sp>
          <p:nvSpPr>
            <p:cNvPr id="374" name="Google Shape;374;p21"/>
            <p:cNvSpPr txBox="1"/>
            <p:nvPr/>
          </p:nvSpPr>
          <p:spPr>
            <a:xfrm>
              <a:off x="0" y="0"/>
              <a:ext cx="5277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75">
                  <a:solidFill>
                    <a:srgbClr val="BC6C25"/>
                  </a:solidFill>
                  <a:latin typeface="Quicksand"/>
                  <a:ea typeface="Quicksand"/>
                  <a:cs typeface="Quicksand"/>
                  <a:sym typeface="Quicksand"/>
                </a:rPr>
                <a:t>LIVE DEVICE HARDENING</a:t>
              </a:r>
              <a:endParaRPr b="1" sz="975">
                <a:solidFill>
                  <a:srgbClr val="BC6C25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5" name="Google Shape;375;p21"/>
            <p:cNvSpPr txBox="1"/>
            <p:nvPr/>
          </p:nvSpPr>
          <p:spPr>
            <a:xfrm>
              <a:off x="0" y="209550"/>
              <a:ext cx="527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1E3324"/>
                  </a:solidFill>
                  <a:latin typeface="Quicksand"/>
                  <a:ea typeface="Quicksand"/>
                  <a:cs typeface="Quicksand"/>
                  <a:sym typeface="Quicksand"/>
                </a:rPr>
                <a:t>Hardened before demo.</a:t>
              </a:r>
              <a:endParaRPr b="1" sz="2200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376" name="Google Shape;376;p21"/>
          <p:cNvGrpSpPr/>
          <p:nvPr/>
        </p:nvGrpSpPr>
        <p:grpSpPr>
          <a:xfrm>
            <a:off x="6191250" y="1095375"/>
            <a:ext cx="5277000" cy="362100"/>
            <a:chOff x="0" y="0"/>
            <a:chExt cx="5277000" cy="362100"/>
          </a:xfrm>
        </p:grpSpPr>
        <p:sp>
          <p:nvSpPr>
            <p:cNvPr id="377" name="Google Shape;377;p21"/>
            <p:cNvSpPr/>
            <p:nvPr/>
          </p:nvSpPr>
          <p:spPr>
            <a:xfrm>
              <a:off x="0" y="0"/>
              <a:ext cx="5277000" cy="362100"/>
            </a:xfrm>
            <a:prstGeom prst="roundRect">
              <a:avLst>
                <a:gd fmla="val 21052" name="adj"/>
              </a:avLst>
            </a:prstGeom>
            <a:solidFill>
              <a:srgbClr val="BC6C2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1"/>
            <p:cNvSpPr txBox="1"/>
            <p:nvPr/>
          </p:nvSpPr>
          <p:spPr>
            <a:xfrm>
              <a:off x="133350" y="38100"/>
              <a:ext cx="5010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Adversarially tested on the live device</a:t>
              </a:r>
              <a:endParaRPr b="1" sz="105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379" name="Google Shape;379;p21"/>
          <p:cNvGrpSpPr/>
          <p:nvPr/>
        </p:nvGrpSpPr>
        <p:grpSpPr>
          <a:xfrm>
            <a:off x="6191250" y="1552575"/>
            <a:ext cx="5277000" cy="4410000"/>
            <a:chOff x="0" y="0"/>
            <a:chExt cx="5277000" cy="4410000"/>
          </a:xfrm>
        </p:grpSpPr>
        <p:grpSp>
          <p:nvGrpSpPr>
            <p:cNvPr id="380" name="Google Shape;380;p21"/>
            <p:cNvGrpSpPr/>
            <p:nvPr/>
          </p:nvGrpSpPr>
          <p:grpSpPr>
            <a:xfrm>
              <a:off x="0" y="0"/>
              <a:ext cx="5277000" cy="971700"/>
              <a:chOff x="0" y="0"/>
              <a:chExt cx="5277000" cy="971700"/>
            </a:xfrm>
          </p:grpSpPr>
          <p:sp>
            <p:nvSpPr>
              <p:cNvPr id="381" name="Google Shape;381;p21"/>
              <p:cNvSpPr/>
              <p:nvPr/>
            </p:nvSpPr>
            <p:spPr>
              <a:xfrm>
                <a:off x="0" y="0"/>
                <a:ext cx="5277000" cy="971700"/>
              </a:xfrm>
              <a:prstGeom prst="roundRect">
                <a:avLst>
                  <a:gd fmla="val 9803" name="adj"/>
                </a:avLst>
              </a:prstGeom>
              <a:solidFill>
                <a:srgbClr val="F2EDE4"/>
              </a:solidFill>
              <a:ln cap="flat" cmpd="sng" w="9525">
                <a:solidFill>
                  <a:srgbClr val="E3DEC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21"/>
              <p:cNvSpPr txBox="1"/>
              <p:nvPr/>
            </p:nvSpPr>
            <p:spPr>
              <a:xfrm>
                <a:off x="152400" y="95250"/>
                <a:ext cx="4972200" cy="7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1E3324"/>
                    </a:solidFill>
                    <a:latin typeface="Quicksand"/>
                    <a:ea typeface="Quicksand"/>
                    <a:cs typeface="Quicksand"/>
                    <a:sym typeface="Quicksand"/>
                  </a:rPr>
                  <a:t>Confidence gating </a:t>
                </a:r>
                <a:r>
                  <a:rPr b="1" lang="en-US" sz="950">
                    <a:solidFill>
                      <a:srgbClr val="BC6C25"/>
                    </a:solidFill>
                    <a:latin typeface="Nunito"/>
                    <a:ea typeface="Nunito"/>
                    <a:cs typeface="Nunito"/>
                    <a:sym typeface="Nunito"/>
                  </a:rPr>
                  <a:t>(AgriLens knows what it doesn't know)</a:t>
                </a:r>
                <a:endParaRPr b="1" sz="1100">
                  <a:solidFill>
                    <a:srgbClr val="1E3324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3B4740"/>
                    </a:solidFill>
                    <a:latin typeface="Nunito"/>
                    <a:ea typeface="Nunito"/>
                    <a:cs typeface="Nunito"/>
                    <a:sym typeface="Nunito"/>
                  </a:rPr>
                  <a:t>A 70% confidence floor catches a low-confidence photo and asks for a retake instead of presenting a false diagnosis.</a:t>
                </a:r>
                <a:endParaRPr b="0" sz="1000">
                  <a:solidFill>
                    <a:srgbClr val="3B4740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383" name="Google Shape;383;p21"/>
            <p:cNvGrpSpPr/>
            <p:nvPr/>
          </p:nvGrpSpPr>
          <p:grpSpPr>
            <a:xfrm>
              <a:off x="0" y="1066800"/>
              <a:ext cx="5277000" cy="971700"/>
              <a:chOff x="0" y="0"/>
              <a:chExt cx="5277000" cy="971700"/>
            </a:xfrm>
          </p:grpSpPr>
          <p:sp>
            <p:nvSpPr>
              <p:cNvPr id="384" name="Google Shape;384;p21"/>
              <p:cNvSpPr/>
              <p:nvPr/>
            </p:nvSpPr>
            <p:spPr>
              <a:xfrm>
                <a:off x="0" y="0"/>
                <a:ext cx="5277000" cy="971700"/>
              </a:xfrm>
              <a:prstGeom prst="roundRect">
                <a:avLst>
                  <a:gd fmla="val 9803" name="adj"/>
                </a:avLst>
              </a:prstGeom>
              <a:solidFill>
                <a:srgbClr val="F2EDE4"/>
              </a:solidFill>
              <a:ln cap="flat" cmpd="sng" w="9525">
                <a:solidFill>
                  <a:srgbClr val="E3DEC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21"/>
              <p:cNvSpPr txBox="1"/>
              <p:nvPr/>
            </p:nvSpPr>
            <p:spPr>
              <a:xfrm>
                <a:off x="152400" y="95250"/>
                <a:ext cx="4972200" cy="7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1E3324"/>
                    </a:solidFill>
                    <a:latin typeface="Quicksand"/>
                    <a:ea typeface="Quicksand"/>
                    <a:cs typeface="Quicksand"/>
                    <a:sym typeface="Quicksand"/>
                  </a:rPr>
                  <a:t>Grounding precision </a:t>
                </a:r>
                <a:r>
                  <a:rPr b="1" lang="en-US" sz="950">
                    <a:solidFill>
                      <a:srgbClr val="BC6C25"/>
                    </a:solidFill>
                    <a:latin typeface="Nunito"/>
                    <a:ea typeface="Nunito"/>
                    <a:cs typeface="Nunito"/>
                    <a:sym typeface="Nunito"/>
                  </a:rPr>
                  <a:t>(LearnLoop never answers off memory)</a:t>
                </a:r>
                <a:endParaRPr b="1" sz="1100">
                  <a:solidFill>
                    <a:srgbClr val="1E3324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3B4740"/>
                    </a:solidFill>
                    <a:latin typeface="Nunito"/>
                    <a:ea typeface="Nunito"/>
                    <a:cs typeface="Nunito"/>
                    <a:sym typeface="Nunito"/>
                  </a:rPr>
                  <a:t>Retrieval is filtered against common function words, so a shared word like "the" can't spuriously match an unrelated note.</a:t>
                </a:r>
                <a:endParaRPr b="0" sz="1000">
                  <a:solidFill>
                    <a:srgbClr val="3B4740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386" name="Google Shape;386;p21"/>
            <p:cNvGrpSpPr/>
            <p:nvPr/>
          </p:nvGrpSpPr>
          <p:grpSpPr>
            <a:xfrm>
              <a:off x="0" y="2133600"/>
              <a:ext cx="5277000" cy="971700"/>
              <a:chOff x="0" y="0"/>
              <a:chExt cx="5277000" cy="971700"/>
            </a:xfrm>
          </p:grpSpPr>
          <p:sp>
            <p:nvSpPr>
              <p:cNvPr id="387" name="Google Shape;387;p21"/>
              <p:cNvSpPr/>
              <p:nvPr/>
            </p:nvSpPr>
            <p:spPr>
              <a:xfrm>
                <a:off x="0" y="0"/>
                <a:ext cx="5277000" cy="971700"/>
              </a:xfrm>
              <a:prstGeom prst="roundRect">
                <a:avLst>
                  <a:gd fmla="val 9803" name="adj"/>
                </a:avLst>
              </a:prstGeom>
              <a:solidFill>
                <a:srgbClr val="F2EDE4"/>
              </a:solidFill>
              <a:ln cap="flat" cmpd="sng" w="9525">
                <a:solidFill>
                  <a:srgbClr val="E3DEC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21"/>
              <p:cNvSpPr txBox="1"/>
              <p:nvPr/>
            </p:nvSpPr>
            <p:spPr>
              <a:xfrm>
                <a:off x="152400" y="95250"/>
                <a:ext cx="4972200" cy="7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1E3324"/>
                    </a:solidFill>
                    <a:latin typeface="Quicksand"/>
                    <a:ea typeface="Quicksand"/>
                    <a:cs typeface="Quicksand"/>
                    <a:sym typeface="Quicksand"/>
                  </a:rPr>
                  <a:t>Input safety </a:t>
                </a:r>
                <a:r>
                  <a:rPr b="1" lang="en-US" sz="950">
                    <a:solidFill>
                      <a:srgbClr val="BC6C25"/>
                    </a:solidFill>
                    <a:latin typeface="Nunito"/>
                    <a:ea typeface="Nunito"/>
                    <a:cs typeface="Nunito"/>
                    <a:sym typeface="Nunito"/>
                  </a:rPr>
                  <a:t>(Fleet Risk only reads its own trip folder)</a:t>
                </a:r>
                <a:endParaRPr b="1" sz="1100">
                  <a:solidFill>
                    <a:srgbClr val="1E3324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3B4740"/>
                    </a:solidFill>
                    <a:latin typeface="Nunito"/>
                    <a:ea typeface="Nunito"/>
                    <a:cs typeface="Nunito"/>
                    <a:sym typeface="Nunito"/>
                  </a:rPr>
                  <a:t>Trip selection is checked against a real directory listing before any file opens — closing a path-traversal route.</a:t>
                </a:r>
                <a:endParaRPr b="0" sz="1000">
                  <a:solidFill>
                    <a:srgbClr val="3B4740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389" name="Google Shape;389;p21"/>
            <p:cNvGrpSpPr/>
            <p:nvPr/>
          </p:nvGrpSpPr>
          <p:grpSpPr>
            <a:xfrm>
              <a:off x="0" y="3200400"/>
              <a:ext cx="5277000" cy="1209600"/>
              <a:chOff x="0" y="0"/>
              <a:chExt cx="5277000" cy="1209600"/>
            </a:xfrm>
          </p:grpSpPr>
          <p:sp>
            <p:nvSpPr>
              <p:cNvPr id="390" name="Google Shape;390;p21"/>
              <p:cNvSpPr/>
              <p:nvPr/>
            </p:nvSpPr>
            <p:spPr>
              <a:xfrm>
                <a:off x="0" y="0"/>
                <a:ext cx="5277000" cy="1209600"/>
              </a:xfrm>
              <a:prstGeom prst="roundRect">
                <a:avLst>
                  <a:gd fmla="val 7874" name="adj"/>
                </a:avLst>
              </a:prstGeom>
              <a:solidFill>
                <a:srgbClr val="F2EDE4"/>
              </a:solidFill>
              <a:ln cap="flat" cmpd="sng" w="9525">
                <a:solidFill>
                  <a:srgbClr val="E3DEC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21"/>
              <p:cNvSpPr txBox="1"/>
              <p:nvPr/>
            </p:nvSpPr>
            <p:spPr>
              <a:xfrm>
                <a:off x="152400" y="95250"/>
                <a:ext cx="4972200" cy="10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1E3324"/>
                    </a:solidFill>
                    <a:latin typeface="Quicksand"/>
                    <a:ea typeface="Quicksand"/>
                    <a:cs typeface="Quicksand"/>
                    <a:sym typeface="Quicksand"/>
                  </a:rPr>
                  <a:t>Open, tracked </a:t>
                </a:r>
                <a:r>
                  <a:rPr b="1" lang="en-US" sz="950">
                    <a:solidFill>
                      <a:srgbClr val="BC6C25"/>
                    </a:solidFill>
                    <a:latin typeface="Nunito"/>
                    <a:ea typeface="Nunito"/>
                    <a:cs typeface="Nunito"/>
                    <a:sym typeface="Nunito"/>
                  </a:rPr>
                  <a:t>(LearnLoop's pace under a long session)</a:t>
                </a:r>
                <a:endParaRPr b="1" sz="1100">
                  <a:solidFill>
                    <a:srgbClr val="1E3324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3B4740"/>
                    </a:solidFill>
                    <a:latin typeface="Nunito"/>
                    <a:ea typeface="Nunito"/>
                    <a:cs typeface="Nunito"/>
                    <a:sym typeface="Nunito"/>
                  </a:rPr>
                  <a:t>Answer time drifts from ~15s to 30–55s across repeated questions. Thermal throttling ruled out; tracked for a closer look.</a:t>
                </a:r>
                <a:endParaRPr b="0" sz="1000">
                  <a:solidFill>
                    <a:srgbClr val="3B4740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</p:grpSp>
      <p:cxnSp>
        <p:nvCxnSpPr>
          <p:cNvPr id="392" name="Google Shape;392;p21"/>
          <p:cNvCxnSpPr/>
          <p:nvPr/>
        </p:nvCxnSpPr>
        <p:spPr>
          <a:xfrm>
            <a:off x="723900" y="6200775"/>
            <a:ext cx="107442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3DE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3" name="Google Shape;393;p21"/>
          <p:cNvSpPr txBox="1"/>
          <p:nvPr/>
        </p:nvSpPr>
        <p:spPr>
          <a:xfrm>
            <a:off x="723900" y="632460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707D74"/>
                </a:solidFill>
                <a:latin typeface="Nunito"/>
                <a:ea typeface="Nunito"/>
                <a:cs typeface="Nunito"/>
                <a:sym typeface="Nunito"/>
              </a:rPr>
              <a:t>VYOMAA LABS | PocketMind</a:t>
            </a:r>
            <a:endParaRPr b="0" sz="900">
              <a:solidFill>
                <a:srgbClr val="707D7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2"/>
          <p:cNvSpPr txBox="1"/>
          <p:nvPr/>
        </p:nvSpPr>
        <p:spPr>
          <a:xfrm>
            <a:off x="723900" y="428625"/>
            <a:ext cx="10744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BC6C25"/>
                </a:solidFill>
                <a:latin typeface="Quicksand"/>
                <a:ea typeface="Quicksand"/>
                <a:cs typeface="Quicksand"/>
                <a:sym typeface="Quicksand"/>
              </a:rPr>
              <a:t>DEPLOYMENT STATUS, HONESTLY</a:t>
            </a:r>
            <a:endParaRPr b="1" sz="975">
              <a:solidFill>
                <a:srgbClr val="BC6C2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99" name="Google Shape;399;p22"/>
          <p:cNvSpPr txBox="1"/>
          <p:nvPr/>
        </p:nvSpPr>
        <p:spPr>
          <a:xfrm>
            <a:off x="723900" y="647700"/>
            <a:ext cx="107442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rPr>
              <a:t>Where each piece actually stands</a:t>
            </a:r>
            <a:endParaRPr b="1" sz="2400">
              <a:solidFill>
                <a:srgbClr val="1E3324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400" name="Google Shape;400;p22"/>
          <p:cNvGrpSpPr/>
          <p:nvPr/>
        </p:nvGrpSpPr>
        <p:grpSpPr>
          <a:xfrm>
            <a:off x="723900" y="1285875"/>
            <a:ext cx="3390900" cy="4667400"/>
            <a:chOff x="0" y="0"/>
            <a:chExt cx="3390900" cy="4667400"/>
          </a:xfrm>
        </p:grpSpPr>
        <p:sp>
          <p:nvSpPr>
            <p:cNvPr id="401" name="Google Shape;401;p22"/>
            <p:cNvSpPr/>
            <p:nvPr/>
          </p:nvSpPr>
          <p:spPr>
            <a:xfrm>
              <a:off x="0" y="0"/>
              <a:ext cx="3390900" cy="4667400"/>
            </a:xfrm>
            <a:prstGeom prst="roundRect">
              <a:avLst>
                <a:gd fmla="val 3932" name="adj"/>
              </a:avLst>
            </a:prstGeom>
            <a:solidFill>
              <a:srgbClr val="FFFFFF"/>
            </a:solidFill>
            <a:ln cap="flat" cmpd="sng" w="9525">
              <a:solidFill>
                <a:srgbClr val="E3DEC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2"/>
            <p:cNvSpPr/>
            <p:nvPr/>
          </p:nvSpPr>
          <p:spPr>
            <a:xfrm>
              <a:off x="0" y="0"/>
              <a:ext cx="3390900" cy="571500"/>
            </a:xfrm>
            <a:prstGeom prst="roundRect">
              <a:avLst>
                <a:gd fmla="val 23333" name="adj"/>
              </a:avLst>
            </a:prstGeom>
            <a:solidFill>
              <a:srgbClr val="F2EDE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2"/>
            <p:cNvSpPr/>
            <p:nvPr/>
          </p:nvSpPr>
          <p:spPr>
            <a:xfrm>
              <a:off x="0" y="381000"/>
              <a:ext cx="3390900" cy="190500"/>
            </a:xfrm>
            <a:prstGeom prst="rect">
              <a:avLst/>
            </a:prstGeom>
            <a:solidFill>
              <a:srgbClr val="F2EDE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2"/>
            <p:cNvSpPr txBox="1"/>
            <p:nvPr/>
          </p:nvSpPr>
          <p:spPr>
            <a:xfrm>
              <a:off x="228600" y="152400"/>
              <a:ext cx="29337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3324"/>
                  </a:solidFill>
                  <a:latin typeface="Quicksand"/>
                  <a:ea typeface="Quicksand"/>
                  <a:cs typeface="Quicksand"/>
                  <a:sym typeface="Quicksand"/>
                </a:rPr>
                <a:t>AgriLens</a:t>
              </a:r>
              <a:endParaRPr b="1" sz="1600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405" name="Google Shape;405;p22"/>
            <p:cNvGrpSpPr/>
            <p:nvPr/>
          </p:nvGrpSpPr>
          <p:grpSpPr>
            <a:xfrm>
              <a:off x="190500" y="762000"/>
              <a:ext cx="3009900" cy="2000100"/>
              <a:chOff x="0" y="0"/>
              <a:chExt cx="3009900" cy="2000100"/>
            </a:xfrm>
          </p:grpSpPr>
          <p:sp>
            <p:nvSpPr>
              <p:cNvPr id="406" name="Google Shape;406;p22"/>
              <p:cNvSpPr/>
              <p:nvPr/>
            </p:nvSpPr>
            <p:spPr>
              <a:xfrm>
                <a:off x="0" y="0"/>
                <a:ext cx="3009900" cy="2000100"/>
              </a:xfrm>
              <a:prstGeom prst="roundRect">
                <a:avLst>
                  <a:gd fmla="val 4761" name="adj"/>
                </a:avLst>
              </a:prstGeom>
              <a:solidFill>
                <a:srgbClr val="FBF9F5"/>
              </a:solidFill>
              <a:ln cap="flat" cmpd="sng" w="9525">
                <a:solidFill>
                  <a:srgbClr val="E3DEC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22"/>
              <p:cNvSpPr txBox="1"/>
              <p:nvPr/>
            </p:nvSpPr>
            <p:spPr>
              <a:xfrm>
                <a:off x="190500" y="190500"/>
                <a:ext cx="2628900" cy="16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1E3324"/>
                    </a:solidFill>
                    <a:latin typeface="Nunito"/>
                    <a:ea typeface="Nunito"/>
                    <a:cs typeface="Nunito"/>
                    <a:sym typeface="Nunito"/>
                  </a:rPr>
                  <a:t>AgriLens field pilot</a:t>
                </a:r>
                <a:endParaRPr b="1" sz="1300">
                  <a:solidFill>
                    <a:srgbClr val="1E3324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1" lang="en-US" sz="850">
                    <a:solidFill>
                      <a:srgbClr val="BC6C25"/>
                    </a:solidFill>
                    <a:latin typeface="Nunito"/>
                    <a:ea typeface="Nunito"/>
                    <a:cs typeface="Nunito"/>
                    <a:sym typeface="Nunito"/>
                  </a:rPr>
                  <a:t>IN PROGRESS</a:t>
                </a:r>
                <a:endParaRPr>
                  <a:latin typeface="Nunito"/>
                  <a:ea typeface="Nunito"/>
                  <a:cs typeface="Nunito"/>
                  <a:sym typeface="Nuni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3B4740"/>
                    </a:solidFill>
                    <a:latin typeface="Nunito"/>
                    <a:ea typeface="Nunito"/>
                    <a:cs typeface="Nunito"/>
                    <a:sym typeface="Nunito"/>
                  </a:rPr>
                  <a:t>Piloting with 5 farmers</a:t>
                </a:r>
                <a:endParaRPr b="0" sz="1050">
                  <a:solidFill>
                    <a:srgbClr val="3B4740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408" name="Google Shape;408;p22"/>
            <p:cNvGrpSpPr/>
            <p:nvPr/>
          </p:nvGrpSpPr>
          <p:grpSpPr>
            <a:xfrm>
              <a:off x="190500" y="2952750"/>
              <a:ext cx="3009900" cy="1476300"/>
              <a:chOff x="0" y="0"/>
              <a:chExt cx="3009900" cy="1476300"/>
            </a:xfrm>
          </p:grpSpPr>
          <p:sp>
            <p:nvSpPr>
              <p:cNvPr id="409" name="Google Shape;409;p22"/>
              <p:cNvSpPr/>
              <p:nvPr/>
            </p:nvSpPr>
            <p:spPr>
              <a:xfrm>
                <a:off x="0" y="0"/>
                <a:ext cx="3009900" cy="1476300"/>
              </a:xfrm>
              <a:prstGeom prst="roundRect">
                <a:avLst>
                  <a:gd fmla="val 6451" name="adj"/>
                </a:avLst>
              </a:prstGeom>
              <a:solidFill>
                <a:srgbClr val="F2EDE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22"/>
              <p:cNvSpPr txBox="1"/>
              <p:nvPr/>
            </p:nvSpPr>
            <p:spPr>
              <a:xfrm>
                <a:off x="190500" y="190500"/>
                <a:ext cx="2628900" cy="10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BC6C25"/>
                    </a:solidFill>
                    <a:latin typeface="Quicksand"/>
                    <a:ea typeface="Quicksand"/>
                    <a:cs typeface="Quicksand"/>
                    <a:sym typeface="Quicksand"/>
                  </a:rPr>
                  <a:t>ACTIVE DEPLOYMENT</a:t>
                </a:r>
                <a:endParaRPr b="1" sz="900">
                  <a:solidFill>
                    <a:srgbClr val="BC6C25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US" sz="2600">
                    <a:solidFill>
                      <a:srgbClr val="1E3324"/>
                    </a:solidFill>
                    <a:latin typeface="Quicksand"/>
                    <a:ea typeface="Quicksand"/>
                    <a:cs typeface="Quicksand"/>
                    <a:sym typeface="Quicksand"/>
                  </a:rPr>
                  <a:t>5 Farmers</a:t>
                </a:r>
                <a:endParaRPr b="1" sz="2600">
                  <a:solidFill>
                    <a:srgbClr val="1E3324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950">
                    <a:solidFill>
                      <a:srgbClr val="707D74"/>
                    </a:solidFill>
                    <a:latin typeface="Nunito"/>
                    <a:ea typeface="Nunito"/>
                    <a:cs typeface="Nunito"/>
                    <a:sym typeface="Nunito"/>
                  </a:rPr>
                  <a:t>Live agricultural field testing</a:t>
                </a:r>
                <a:endParaRPr sz="950">
                  <a:solidFill>
                    <a:srgbClr val="707D74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</p:grpSp>
      <p:grpSp>
        <p:nvGrpSpPr>
          <p:cNvPr id="411" name="Google Shape;411;p22"/>
          <p:cNvGrpSpPr/>
          <p:nvPr/>
        </p:nvGrpSpPr>
        <p:grpSpPr>
          <a:xfrm>
            <a:off x="4400550" y="1285875"/>
            <a:ext cx="3390900" cy="4667400"/>
            <a:chOff x="0" y="0"/>
            <a:chExt cx="3390900" cy="4667400"/>
          </a:xfrm>
        </p:grpSpPr>
        <p:sp>
          <p:nvSpPr>
            <p:cNvPr id="412" name="Google Shape;412;p22"/>
            <p:cNvSpPr/>
            <p:nvPr/>
          </p:nvSpPr>
          <p:spPr>
            <a:xfrm>
              <a:off x="0" y="0"/>
              <a:ext cx="3390900" cy="4667400"/>
            </a:xfrm>
            <a:prstGeom prst="roundRect">
              <a:avLst>
                <a:gd fmla="val 3932" name="adj"/>
              </a:avLst>
            </a:prstGeom>
            <a:solidFill>
              <a:srgbClr val="FFFFFF"/>
            </a:solidFill>
            <a:ln cap="flat" cmpd="sng" w="9525">
              <a:solidFill>
                <a:srgbClr val="E3DEC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2"/>
            <p:cNvSpPr/>
            <p:nvPr/>
          </p:nvSpPr>
          <p:spPr>
            <a:xfrm>
              <a:off x="0" y="0"/>
              <a:ext cx="3390900" cy="571500"/>
            </a:xfrm>
            <a:prstGeom prst="roundRect">
              <a:avLst>
                <a:gd fmla="val 23333" name="adj"/>
              </a:avLst>
            </a:prstGeom>
            <a:solidFill>
              <a:srgbClr val="F2EDE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2"/>
            <p:cNvSpPr/>
            <p:nvPr/>
          </p:nvSpPr>
          <p:spPr>
            <a:xfrm>
              <a:off x="0" y="381000"/>
              <a:ext cx="3390900" cy="190500"/>
            </a:xfrm>
            <a:prstGeom prst="rect">
              <a:avLst/>
            </a:prstGeom>
            <a:solidFill>
              <a:srgbClr val="F2EDE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2"/>
            <p:cNvSpPr txBox="1"/>
            <p:nvPr/>
          </p:nvSpPr>
          <p:spPr>
            <a:xfrm>
              <a:off x="228600" y="152400"/>
              <a:ext cx="29337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3324"/>
                  </a:solidFill>
                  <a:latin typeface="Quicksand"/>
                  <a:ea typeface="Quicksand"/>
                  <a:cs typeface="Quicksand"/>
                  <a:sym typeface="Quicksand"/>
                </a:rPr>
                <a:t>LearnLoop</a:t>
              </a:r>
              <a:endParaRPr b="1" sz="1600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416" name="Google Shape;416;p22"/>
            <p:cNvGrpSpPr/>
            <p:nvPr/>
          </p:nvGrpSpPr>
          <p:grpSpPr>
            <a:xfrm>
              <a:off x="190500" y="762000"/>
              <a:ext cx="3009900" cy="2000100"/>
              <a:chOff x="0" y="0"/>
              <a:chExt cx="3009900" cy="2000100"/>
            </a:xfrm>
          </p:grpSpPr>
          <p:sp>
            <p:nvSpPr>
              <p:cNvPr id="417" name="Google Shape;417;p22"/>
              <p:cNvSpPr/>
              <p:nvPr/>
            </p:nvSpPr>
            <p:spPr>
              <a:xfrm>
                <a:off x="0" y="0"/>
                <a:ext cx="3009900" cy="2000100"/>
              </a:xfrm>
              <a:prstGeom prst="roundRect">
                <a:avLst>
                  <a:gd fmla="val 4761" name="adj"/>
                </a:avLst>
              </a:prstGeom>
              <a:solidFill>
                <a:srgbClr val="FBF9F5"/>
              </a:solidFill>
              <a:ln cap="flat" cmpd="sng" w="9525">
                <a:solidFill>
                  <a:srgbClr val="E3DEC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22"/>
              <p:cNvSpPr txBox="1"/>
              <p:nvPr/>
            </p:nvSpPr>
            <p:spPr>
              <a:xfrm>
                <a:off x="190500" y="190500"/>
                <a:ext cx="2628900" cy="16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1E3324"/>
                    </a:solidFill>
                    <a:latin typeface="Nunito"/>
                    <a:ea typeface="Nunito"/>
                    <a:cs typeface="Nunito"/>
                    <a:sym typeface="Nunito"/>
                  </a:rPr>
                  <a:t>LearnLoop field pilot</a:t>
                </a:r>
                <a:endParaRPr b="1" sz="1300">
                  <a:solidFill>
                    <a:srgbClr val="1E3324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1" lang="en-US" sz="850">
                    <a:solidFill>
                      <a:srgbClr val="BC6C25"/>
                    </a:solidFill>
                    <a:latin typeface="Nunito"/>
                    <a:ea typeface="Nunito"/>
                    <a:cs typeface="Nunito"/>
                    <a:sym typeface="Nunito"/>
                  </a:rPr>
                  <a:t>IN PROGRESS</a:t>
                </a:r>
                <a:endParaRPr>
                  <a:latin typeface="Nunito"/>
                  <a:ea typeface="Nunito"/>
                  <a:cs typeface="Nunito"/>
                  <a:sym typeface="Nuni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3B4740"/>
                    </a:solidFill>
                    <a:latin typeface="Nunito"/>
                    <a:ea typeface="Nunito"/>
                    <a:cs typeface="Nunito"/>
                    <a:sym typeface="Nunito"/>
                  </a:rPr>
                  <a:t>Piloting with 10 students</a:t>
                </a:r>
                <a:endParaRPr b="0" sz="1050">
                  <a:solidFill>
                    <a:srgbClr val="3B4740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419" name="Google Shape;419;p22"/>
            <p:cNvGrpSpPr/>
            <p:nvPr/>
          </p:nvGrpSpPr>
          <p:grpSpPr>
            <a:xfrm>
              <a:off x="190500" y="2952750"/>
              <a:ext cx="3009900" cy="1476300"/>
              <a:chOff x="0" y="0"/>
              <a:chExt cx="3009900" cy="1476300"/>
            </a:xfrm>
          </p:grpSpPr>
          <p:sp>
            <p:nvSpPr>
              <p:cNvPr id="420" name="Google Shape;420;p22"/>
              <p:cNvSpPr/>
              <p:nvPr/>
            </p:nvSpPr>
            <p:spPr>
              <a:xfrm>
                <a:off x="0" y="0"/>
                <a:ext cx="3009900" cy="1476300"/>
              </a:xfrm>
              <a:prstGeom prst="roundRect">
                <a:avLst>
                  <a:gd fmla="val 6451" name="adj"/>
                </a:avLst>
              </a:prstGeom>
              <a:solidFill>
                <a:srgbClr val="F2EDE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22"/>
              <p:cNvSpPr txBox="1"/>
              <p:nvPr/>
            </p:nvSpPr>
            <p:spPr>
              <a:xfrm>
                <a:off x="190500" y="190500"/>
                <a:ext cx="2628900" cy="10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BC6C25"/>
                    </a:solidFill>
                    <a:latin typeface="Quicksand"/>
                    <a:ea typeface="Quicksand"/>
                    <a:cs typeface="Quicksand"/>
                    <a:sym typeface="Quicksand"/>
                  </a:rPr>
                  <a:t>ACTIVE DEPLOYMENT</a:t>
                </a:r>
                <a:endParaRPr b="1" sz="900">
                  <a:solidFill>
                    <a:srgbClr val="BC6C25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US" sz="2600">
                    <a:solidFill>
                      <a:srgbClr val="1E3324"/>
                    </a:solidFill>
                    <a:latin typeface="Quicksand"/>
                    <a:ea typeface="Quicksand"/>
                    <a:cs typeface="Quicksand"/>
                    <a:sym typeface="Quicksand"/>
                  </a:rPr>
                  <a:t>10 Students</a:t>
                </a:r>
                <a:endParaRPr b="1" sz="2600">
                  <a:solidFill>
                    <a:srgbClr val="1E3324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950">
                    <a:solidFill>
                      <a:srgbClr val="707D74"/>
                    </a:solidFill>
                    <a:latin typeface="Nunito"/>
                    <a:ea typeface="Nunito"/>
                    <a:cs typeface="Nunito"/>
                    <a:sym typeface="Nunito"/>
                  </a:rPr>
                  <a:t>Classroom pilot evaluation</a:t>
                </a:r>
                <a:endParaRPr sz="950">
                  <a:solidFill>
                    <a:srgbClr val="707D74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</p:grpSp>
      <p:grpSp>
        <p:nvGrpSpPr>
          <p:cNvPr id="422" name="Google Shape;422;p22"/>
          <p:cNvGrpSpPr/>
          <p:nvPr/>
        </p:nvGrpSpPr>
        <p:grpSpPr>
          <a:xfrm>
            <a:off x="8077200" y="1285875"/>
            <a:ext cx="3390900" cy="4667400"/>
            <a:chOff x="0" y="0"/>
            <a:chExt cx="3390900" cy="4667400"/>
          </a:xfrm>
        </p:grpSpPr>
        <p:sp>
          <p:nvSpPr>
            <p:cNvPr id="423" name="Google Shape;423;p22"/>
            <p:cNvSpPr/>
            <p:nvPr/>
          </p:nvSpPr>
          <p:spPr>
            <a:xfrm>
              <a:off x="0" y="0"/>
              <a:ext cx="3390900" cy="4667400"/>
            </a:xfrm>
            <a:prstGeom prst="roundRect">
              <a:avLst>
                <a:gd fmla="val 3932" name="adj"/>
              </a:avLst>
            </a:prstGeom>
            <a:solidFill>
              <a:srgbClr val="FFFFFF"/>
            </a:solidFill>
            <a:ln cap="flat" cmpd="sng" w="9525">
              <a:solidFill>
                <a:srgbClr val="E3DEC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2"/>
            <p:cNvSpPr/>
            <p:nvPr/>
          </p:nvSpPr>
          <p:spPr>
            <a:xfrm>
              <a:off x="0" y="0"/>
              <a:ext cx="3390900" cy="571500"/>
            </a:xfrm>
            <a:prstGeom prst="roundRect">
              <a:avLst>
                <a:gd fmla="val 23333" name="adj"/>
              </a:avLst>
            </a:prstGeom>
            <a:solidFill>
              <a:srgbClr val="F2EDE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2"/>
            <p:cNvSpPr/>
            <p:nvPr/>
          </p:nvSpPr>
          <p:spPr>
            <a:xfrm>
              <a:off x="0" y="381000"/>
              <a:ext cx="3390900" cy="190500"/>
            </a:xfrm>
            <a:prstGeom prst="rect">
              <a:avLst/>
            </a:prstGeom>
            <a:solidFill>
              <a:srgbClr val="F2EDE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2"/>
            <p:cNvSpPr txBox="1"/>
            <p:nvPr/>
          </p:nvSpPr>
          <p:spPr>
            <a:xfrm>
              <a:off x="228600" y="152400"/>
              <a:ext cx="29337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3324"/>
                  </a:solidFill>
                  <a:latin typeface="Quicksand"/>
                  <a:ea typeface="Quicksand"/>
                  <a:cs typeface="Quicksand"/>
                  <a:sym typeface="Quicksand"/>
                </a:rPr>
                <a:t>Fleet Risk</a:t>
              </a:r>
              <a:endParaRPr b="1" sz="1600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427" name="Google Shape;427;p22"/>
            <p:cNvGrpSpPr/>
            <p:nvPr/>
          </p:nvGrpSpPr>
          <p:grpSpPr>
            <a:xfrm>
              <a:off x="190500" y="762000"/>
              <a:ext cx="3009900" cy="1143000"/>
              <a:chOff x="0" y="0"/>
              <a:chExt cx="3009900" cy="1143000"/>
            </a:xfrm>
          </p:grpSpPr>
          <p:sp>
            <p:nvSpPr>
              <p:cNvPr id="428" name="Google Shape;428;p22"/>
              <p:cNvSpPr/>
              <p:nvPr/>
            </p:nvSpPr>
            <p:spPr>
              <a:xfrm>
                <a:off x="0" y="0"/>
                <a:ext cx="3009900" cy="1143000"/>
              </a:xfrm>
              <a:prstGeom prst="roundRect">
                <a:avLst>
                  <a:gd fmla="val 8333" name="adj"/>
                </a:avLst>
              </a:prstGeom>
              <a:solidFill>
                <a:srgbClr val="FBF9F5"/>
              </a:solidFill>
              <a:ln cap="flat" cmpd="sng" w="9525">
                <a:solidFill>
                  <a:srgbClr val="E3DEC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22"/>
              <p:cNvSpPr txBox="1"/>
              <p:nvPr/>
            </p:nvSpPr>
            <p:spPr>
              <a:xfrm>
                <a:off x="152400" y="133350"/>
                <a:ext cx="2705100" cy="87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1E3324"/>
                    </a:solidFill>
                    <a:latin typeface="Nunito"/>
                    <a:ea typeface="Nunito"/>
                    <a:cs typeface="Nunito"/>
                    <a:sym typeface="Nunito"/>
                  </a:rPr>
                  <a:t>Database</a:t>
                </a:r>
                <a:r>
                  <a:rPr lang="en-US">
                    <a:latin typeface="Nunito"/>
                    <a:ea typeface="Nunito"/>
                    <a:cs typeface="Nunito"/>
                    <a:sym typeface="Nunito"/>
                  </a:rPr>
                  <a:t> </a:t>
                </a:r>
                <a:r>
                  <a:rPr b="1" lang="en-US" sz="800">
                    <a:solidFill>
                      <a:srgbClr val="2E7D32"/>
                    </a:solidFill>
                    <a:highlight>
                      <a:srgbClr val="E8F5E9"/>
                    </a:highlight>
                    <a:latin typeface="Nunito"/>
                    <a:ea typeface="Nunito"/>
                    <a:cs typeface="Nunito"/>
                    <a:sym typeface="Nunito"/>
                  </a:rPr>
                  <a:t>COMPLETE</a:t>
                </a:r>
                <a:endParaRPr>
                  <a:latin typeface="Nunito"/>
                  <a:ea typeface="Nunito"/>
                  <a:cs typeface="Nunito"/>
                  <a:sym typeface="Nuni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3B4740"/>
                    </a:solidFill>
                    <a:latin typeface="Nunito"/>
                    <a:ea typeface="Nunito"/>
                    <a:cs typeface="Nunito"/>
                    <a:sym typeface="Nunito"/>
                  </a:rPr>
                  <a:t>On-device schema built, verified</a:t>
                </a:r>
                <a:endParaRPr b="0" sz="950">
                  <a:solidFill>
                    <a:srgbClr val="3B4740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430" name="Google Shape;430;p22"/>
            <p:cNvGrpSpPr/>
            <p:nvPr/>
          </p:nvGrpSpPr>
          <p:grpSpPr>
            <a:xfrm>
              <a:off x="190500" y="2000250"/>
              <a:ext cx="3009900" cy="1143000"/>
              <a:chOff x="0" y="0"/>
              <a:chExt cx="3009900" cy="1143000"/>
            </a:xfrm>
          </p:grpSpPr>
          <p:sp>
            <p:nvSpPr>
              <p:cNvPr id="431" name="Google Shape;431;p22"/>
              <p:cNvSpPr/>
              <p:nvPr/>
            </p:nvSpPr>
            <p:spPr>
              <a:xfrm>
                <a:off x="0" y="0"/>
                <a:ext cx="3009900" cy="1143000"/>
              </a:xfrm>
              <a:prstGeom prst="roundRect">
                <a:avLst>
                  <a:gd fmla="val 8333" name="adj"/>
                </a:avLst>
              </a:prstGeom>
              <a:solidFill>
                <a:srgbClr val="FBF9F5"/>
              </a:solidFill>
              <a:ln cap="flat" cmpd="sng" w="9525">
                <a:solidFill>
                  <a:srgbClr val="E3DEC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22"/>
              <p:cNvSpPr txBox="1"/>
              <p:nvPr/>
            </p:nvSpPr>
            <p:spPr>
              <a:xfrm>
                <a:off x="152400" y="133350"/>
                <a:ext cx="2705100" cy="87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1E3324"/>
                    </a:solidFill>
                    <a:latin typeface="Nunito"/>
                    <a:ea typeface="Nunito"/>
                    <a:cs typeface="Nunito"/>
                    <a:sym typeface="Nunito"/>
                  </a:rPr>
                  <a:t>Vehicle Hardware</a:t>
                </a:r>
                <a:r>
                  <a:rPr lang="en-US">
                    <a:latin typeface="Nunito"/>
                    <a:ea typeface="Nunito"/>
                    <a:cs typeface="Nunito"/>
                    <a:sym typeface="Nunito"/>
                  </a:rPr>
                  <a:t> </a:t>
                </a:r>
                <a:r>
                  <a:rPr b="1" lang="en-US" sz="800">
                    <a:solidFill>
                      <a:srgbClr val="BC6C25"/>
                    </a:solidFill>
                    <a:latin typeface="Nunito"/>
                    <a:ea typeface="Nunito"/>
                    <a:cs typeface="Nunito"/>
                    <a:sym typeface="Nunito"/>
                  </a:rPr>
                  <a:t>IN PROGRESS</a:t>
                </a:r>
                <a:endParaRPr>
                  <a:latin typeface="Nunito"/>
                  <a:ea typeface="Nunito"/>
                  <a:cs typeface="Nunito"/>
                  <a:sym typeface="Nuni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3B4740"/>
                    </a:solidFill>
                    <a:latin typeface="Nunito"/>
                    <a:ea typeface="Nunito"/>
                    <a:cs typeface="Nunito"/>
                    <a:sym typeface="Nunito"/>
                  </a:rPr>
                  <a:t>Building the on-vehicle sensor layer</a:t>
                </a:r>
                <a:endParaRPr b="0" sz="950">
                  <a:solidFill>
                    <a:srgbClr val="3B4740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433" name="Google Shape;433;p22"/>
            <p:cNvGrpSpPr/>
            <p:nvPr/>
          </p:nvGrpSpPr>
          <p:grpSpPr>
            <a:xfrm>
              <a:off x="190500" y="3238500"/>
              <a:ext cx="3009900" cy="1190700"/>
              <a:chOff x="0" y="0"/>
              <a:chExt cx="3009900" cy="1190700"/>
            </a:xfrm>
          </p:grpSpPr>
          <p:sp>
            <p:nvSpPr>
              <p:cNvPr id="434" name="Google Shape;434;p22"/>
              <p:cNvSpPr/>
              <p:nvPr/>
            </p:nvSpPr>
            <p:spPr>
              <a:xfrm>
                <a:off x="0" y="0"/>
                <a:ext cx="3009900" cy="1190700"/>
              </a:xfrm>
              <a:prstGeom prst="roundRect">
                <a:avLst>
                  <a:gd fmla="val 8000" name="adj"/>
                </a:avLst>
              </a:prstGeom>
              <a:solidFill>
                <a:srgbClr val="FBF9F5"/>
              </a:solidFill>
              <a:ln cap="flat" cmpd="sng" w="9525">
                <a:solidFill>
                  <a:srgbClr val="E3DEC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22"/>
              <p:cNvSpPr txBox="1"/>
              <p:nvPr/>
            </p:nvSpPr>
            <p:spPr>
              <a:xfrm>
                <a:off x="152400" y="133350"/>
                <a:ext cx="2705100" cy="9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1E3324"/>
                    </a:solidFill>
                    <a:latin typeface="Nunito"/>
                    <a:ea typeface="Nunito"/>
                    <a:cs typeface="Nunito"/>
                    <a:sym typeface="Nunito"/>
                  </a:rPr>
                  <a:t>Cloud Compute</a:t>
                </a:r>
                <a:r>
                  <a:rPr lang="en-US">
                    <a:latin typeface="Nunito"/>
                    <a:ea typeface="Nunito"/>
                    <a:cs typeface="Nunito"/>
                    <a:sym typeface="Nunito"/>
                  </a:rPr>
                  <a:t> </a:t>
                </a:r>
                <a:r>
                  <a:rPr b="1" lang="en-US" sz="800">
                    <a:solidFill>
                      <a:srgbClr val="BC6C25"/>
                    </a:solidFill>
                    <a:latin typeface="Nunito"/>
                    <a:ea typeface="Nunito"/>
                    <a:cs typeface="Nunito"/>
                    <a:sym typeface="Nunito"/>
                  </a:rPr>
                  <a:t>IN PROGRESS</a:t>
                </a:r>
                <a:endParaRPr>
                  <a:latin typeface="Nunito"/>
                  <a:ea typeface="Nunito"/>
                  <a:cs typeface="Nunito"/>
                  <a:sym typeface="Nuni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3B4740"/>
                    </a:solidFill>
                    <a:latin typeface="Nunito"/>
                    <a:ea typeface="Nunito"/>
                    <a:cs typeface="Nunito"/>
                    <a:sym typeface="Nunito"/>
                  </a:rPr>
                  <a:t>AWS aggregation layer being built</a:t>
                </a:r>
                <a:endParaRPr b="0" sz="950">
                  <a:solidFill>
                    <a:srgbClr val="3B4740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</p:grpSp>
      <p:cxnSp>
        <p:nvCxnSpPr>
          <p:cNvPr id="436" name="Google Shape;436;p22"/>
          <p:cNvCxnSpPr/>
          <p:nvPr/>
        </p:nvCxnSpPr>
        <p:spPr>
          <a:xfrm>
            <a:off x="723900" y="6200775"/>
            <a:ext cx="107442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3DE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7" name="Google Shape;437;p22"/>
          <p:cNvSpPr txBox="1"/>
          <p:nvPr/>
        </p:nvSpPr>
        <p:spPr>
          <a:xfrm>
            <a:off x="723900" y="6324600"/>
            <a:ext cx="285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707D74"/>
                </a:solidFill>
                <a:latin typeface="Nunito"/>
                <a:ea typeface="Nunito"/>
                <a:cs typeface="Nunito"/>
                <a:sym typeface="Nunito"/>
              </a:rPr>
              <a:t>VYOMAA LABS · PocketMind</a:t>
            </a:r>
            <a:endParaRPr b="0" sz="900">
              <a:solidFill>
                <a:srgbClr val="707D7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3"/>
          <p:cNvSpPr txBox="1"/>
          <p:nvPr/>
        </p:nvSpPr>
        <p:spPr>
          <a:xfrm>
            <a:off x="723900" y="381000"/>
            <a:ext cx="10744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BC6C25"/>
                </a:solidFill>
                <a:latin typeface="Quicksand"/>
                <a:ea typeface="Quicksand"/>
                <a:cs typeface="Quicksand"/>
                <a:sym typeface="Quicksand"/>
              </a:rPr>
              <a:t>VISION &amp; ROADMAP</a:t>
            </a:r>
            <a:endParaRPr b="1" sz="975">
              <a:solidFill>
                <a:srgbClr val="BC6C2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43" name="Google Shape;443;p23"/>
          <p:cNvSpPr txBox="1"/>
          <p:nvPr/>
        </p:nvSpPr>
        <p:spPr>
          <a:xfrm>
            <a:off x="723900" y="590550"/>
            <a:ext cx="1074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rPr>
              <a:t>A better India ahead: 100+ sector-specific models</a:t>
            </a:r>
            <a:endParaRPr b="1" sz="2550">
              <a:solidFill>
                <a:srgbClr val="1E3324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444" name="Google Shape;444;p23"/>
          <p:cNvGrpSpPr/>
          <p:nvPr/>
        </p:nvGrpSpPr>
        <p:grpSpPr>
          <a:xfrm>
            <a:off x="723900" y="1143000"/>
            <a:ext cx="5143500" cy="2667000"/>
            <a:chOff x="0" y="0"/>
            <a:chExt cx="5143500" cy="2667000"/>
          </a:xfrm>
        </p:grpSpPr>
        <p:sp>
          <p:nvSpPr>
            <p:cNvPr id="445" name="Google Shape;445;p23"/>
            <p:cNvSpPr/>
            <p:nvPr/>
          </p:nvSpPr>
          <p:spPr>
            <a:xfrm>
              <a:off x="0" y="0"/>
              <a:ext cx="5143500" cy="2667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3DEC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3"/>
            <p:cNvSpPr txBox="1"/>
            <p:nvPr/>
          </p:nvSpPr>
          <p:spPr>
            <a:xfrm>
              <a:off x="228600" y="190500"/>
              <a:ext cx="46863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8">
                  <a:solidFill>
                    <a:srgbClr val="1E3324"/>
                  </a:solidFill>
                  <a:latin typeface="Quicksand"/>
                  <a:ea typeface="Quicksand"/>
                  <a:cs typeface="Quicksand"/>
                  <a:sym typeface="Quicksand"/>
                </a:rPr>
                <a:t>100+ Models, On Any Smartphone</a:t>
              </a:r>
              <a:endParaRPr b="1" sz="1408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450">
                  <a:solidFill>
                    <a:srgbClr val="3B4740"/>
                  </a:solidFill>
                  <a:latin typeface="Nunito"/>
                  <a:ea typeface="Nunito"/>
                  <a:cs typeface="Nunito"/>
                  <a:sym typeface="Nunito"/>
                </a:rPr>
                <a:t>Once the architecture layers, training process, and performance benchmarks are finalized across sectors, the target is 100+ fully-trained, customized models — each tuned to its own sector the way AgriLens and LearnLoop already are.</a:t>
              </a:r>
              <a:endParaRPr b="0" sz="1450">
                <a:solidFill>
                  <a:srgbClr val="3B4740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450">
                  <a:solidFill>
                    <a:srgbClr val="1E3324"/>
                  </a:solidFill>
                  <a:latin typeface="Nunito"/>
                  <a:ea typeface="Nunito"/>
                  <a:cs typeface="Nunito"/>
                  <a:sym typeface="Nunito"/>
                </a:rPr>
                <a:t>All runnable on a smartphone of even the lowest practical configuration.</a:t>
              </a:r>
              <a:endParaRPr b="1" sz="1450">
                <a:solidFill>
                  <a:srgbClr val="1E3324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447" name="Google Shape;447;p23"/>
          <p:cNvGrpSpPr/>
          <p:nvPr/>
        </p:nvGrpSpPr>
        <p:grpSpPr>
          <a:xfrm>
            <a:off x="6057900" y="1143000"/>
            <a:ext cx="5410200" cy="2667000"/>
            <a:chOff x="0" y="0"/>
            <a:chExt cx="5410200" cy="2667000"/>
          </a:xfrm>
        </p:grpSpPr>
        <p:sp>
          <p:nvSpPr>
            <p:cNvPr id="448" name="Google Shape;448;p23"/>
            <p:cNvSpPr/>
            <p:nvPr/>
          </p:nvSpPr>
          <p:spPr>
            <a:xfrm>
              <a:off x="0" y="0"/>
              <a:ext cx="5410200" cy="2667000"/>
            </a:xfrm>
            <a:prstGeom prst="roundRect">
              <a:avLst>
                <a:gd fmla="val 4285" name="adj"/>
              </a:avLst>
            </a:prstGeom>
            <a:solidFill>
              <a:srgbClr val="F2EDE4"/>
            </a:solidFill>
            <a:ln cap="flat" cmpd="sng" w="9525">
              <a:solidFill>
                <a:srgbClr val="E3DEC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23"/>
            <p:cNvSpPr txBox="1"/>
            <p:nvPr/>
          </p:nvSpPr>
          <p:spPr>
            <a:xfrm>
              <a:off x="228600" y="190500"/>
              <a:ext cx="495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8">
                  <a:solidFill>
                    <a:srgbClr val="1E3324"/>
                  </a:solidFill>
                  <a:latin typeface="Quicksand"/>
                  <a:ea typeface="Quicksand"/>
                  <a:cs typeface="Quicksand"/>
                  <a:sym typeface="Quicksand"/>
                </a:rPr>
                <a:t>Where Latency Is Headed</a:t>
              </a:r>
              <a:endParaRPr b="1" sz="1408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1098">
                  <a:solidFill>
                    <a:srgbClr val="707D74"/>
                  </a:solidFill>
                  <a:latin typeface="Nunito"/>
                  <a:ea typeface="Nunito"/>
                  <a:cs typeface="Nunito"/>
                  <a:sym typeface="Nunito"/>
                </a:rPr>
                <a:t>These are unoptimized-pipeline numbers, not a ceiling</a:t>
              </a:r>
              <a:endParaRPr b="0" sz="1098">
                <a:solidFill>
                  <a:srgbClr val="707D74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50" name="Google Shape;450;p23"/>
            <p:cNvSpPr txBox="1"/>
            <p:nvPr/>
          </p:nvSpPr>
          <p:spPr>
            <a:xfrm>
              <a:off x="228600" y="714375"/>
              <a:ext cx="4953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8">
                  <a:solidFill>
                    <a:srgbClr val="3B4740"/>
                  </a:solidFill>
                  <a:latin typeface="Nunito"/>
                  <a:ea typeface="Nunito"/>
                  <a:cs typeface="Nunito"/>
                  <a:sym typeface="Nunito"/>
                </a:rPr>
                <a:t>The model's own layers and routing between retrieval and generation are actively being tuned — newer quantization, decoding, and routing algorithms are being tested now.</a:t>
              </a:r>
              <a:endParaRPr b="0" sz="1108">
                <a:solidFill>
                  <a:srgbClr val="3B474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grpSp>
          <p:nvGrpSpPr>
            <p:cNvPr id="451" name="Google Shape;451;p23"/>
            <p:cNvGrpSpPr/>
            <p:nvPr/>
          </p:nvGrpSpPr>
          <p:grpSpPr>
            <a:xfrm>
              <a:off x="228600" y="1285875"/>
              <a:ext cx="2362200" cy="1143000"/>
              <a:chOff x="0" y="0"/>
              <a:chExt cx="2362200" cy="1143000"/>
            </a:xfrm>
          </p:grpSpPr>
          <p:sp>
            <p:nvSpPr>
              <p:cNvPr id="452" name="Google Shape;452;p23"/>
              <p:cNvSpPr/>
              <p:nvPr/>
            </p:nvSpPr>
            <p:spPr>
              <a:xfrm>
                <a:off x="0" y="0"/>
                <a:ext cx="2362200" cy="1143000"/>
              </a:xfrm>
              <a:prstGeom prst="roundRect">
                <a:avLst>
                  <a:gd fmla="val 6666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3DEC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23"/>
              <p:cNvSpPr txBox="1"/>
              <p:nvPr/>
            </p:nvSpPr>
            <p:spPr>
              <a:xfrm>
                <a:off x="152400" y="133350"/>
                <a:ext cx="2057400" cy="87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98">
                    <a:solidFill>
                      <a:srgbClr val="BC6C25"/>
                    </a:solidFill>
                    <a:latin typeface="Quicksand"/>
                    <a:ea typeface="Quicksand"/>
                    <a:cs typeface="Quicksand"/>
                    <a:sym typeface="Quicksand"/>
                  </a:rPr>
                  <a:t>TODAY</a:t>
                </a:r>
                <a:endParaRPr b="1" sz="1098">
                  <a:solidFill>
                    <a:srgbClr val="BC6C25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US" sz="2100">
                    <a:solidFill>
                      <a:srgbClr val="1E3324"/>
                    </a:solidFill>
                    <a:latin typeface="Quicksand"/>
                    <a:ea typeface="Quicksand"/>
                    <a:cs typeface="Quicksand"/>
                    <a:sym typeface="Quicksand"/>
                  </a:rPr>
                  <a:t>15–55s</a:t>
                </a:r>
                <a:endParaRPr b="1" sz="2100">
                  <a:solidFill>
                    <a:srgbClr val="1E3324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US" sz="1208">
                    <a:solidFill>
                      <a:srgbClr val="3B4740"/>
                    </a:solidFill>
                    <a:latin typeface="Nunito"/>
                    <a:ea typeface="Nunito"/>
                    <a:cs typeface="Nunito"/>
                    <a:sym typeface="Nunito"/>
                  </a:rPr>
                  <a:t>per answer</a:t>
                </a:r>
                <a:endParaRPr b="0" sz="1208">
                  <a:solidFill>
                    <a:srgbClr val="3B4740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454" name="Google Shape;454;p23"/>
            <p:cNvGrpSpPr/>
            <p:nvPr/>
          </p:nvGrpSpPr>
          <p:grpSpPr>
            <a:xfrm>
              <a:off x="2743200" y="1285875"/>
              <a:ext cx="2438400" cy="1143000"/>
              <a:chOff x="0" y="0"/>
              <a:chExt cx="2438400" cy="1143000"/>
            </a:xfrm>
          </p:grpSpPr>
          <p:sp>
            <p:nvSpPr>
              <p:cNvPr id="455" name="Google Shape;455;p23"/>
              <p:cNvSpPr/>
              <p:nvPr/>
            </p:nvSpPr>
            <p:spPr>
              <a:xfrm>
                <a:off x="0" y="0"/>
                <a:ext cx="2438400" cy="1143000"/>
              </a:xfrm>
              <a:prstGeom prst="roundRect">
                <a:avLst>
                  <a:gd fmla="val 6666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2E7D3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23"/>
              <p:cNvSpPr txBox="1"/>
              <p:nvPr/>
            </p:nvSpPr>
            <p:spPr>
              <a:xfrm>
                <a:off x="152400" y="133350"/>
                <a:ext cx="2133600" cy="87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698">
                    <a:solidFill>
                      <a:srgbClr val="2E7D32"/>
                    </a:solidFill>
                    <a:latin typeface="Quicksand"/>
                    <a:ea typeface="Quicksand"/>
                    <a:cs typeface="Quicksand"/>
                    <a:sym typeface="Quicksand"/>
                  </a:rPr>
                  <a:t>TARGET, END OF 2026</a:t>
                </a:r>
                <a:endParaRPr b="1" sz="698">
                  <a:solidFill>
                    <a:srgbClr val="2E7D32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US" sz="1700">
                    <a:solidFill>
                      <a:srgbClr val="2E7D32"/>
                    </a:solidFill>
                    <a:latin typeface="Quicksand"/>
                    <a:ea typeface="Quicksand"/>
                    <a:cs typeface="Quicksand"/>
                    <a:sym typeface="Quicksand"/>
                  </a:rPr>
                  <a:t>A couple of seconds</a:t>
                </a:r>
                <a:endParaRPr b="1" sz="1700">
                  <a:solidFill>
                    <a:srgbClr val="2E7D32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US" sz="808">
                    <a:solidFill>
                      <a:srgbClr val="3B4740"/>
                    </a:solidFill>
                    <a:latin typeface="Nunito"/>
                    <a:ea typeface="Nunito"/>
                    <a:cs typeface="Nunito"/>
                    <a:sym typeface="Nunito"/>
                  </a:rPr>
                  <a:t>per answer</a:t>
                </a:r>
                <a:endParaRPr b="0" sz="808">
                  <a:solidFill>
                    <a:srgbClr val="3B4740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</p:grpSp>
      <p:grpSp>
        <p:nvGrpSpPr>
          <p:cNvPr id="457" name="Google Shape;457;p23"/>
          <p:cNvGrpSpPr/>
          <p:nvPr/>
        </p:nvGrpSpPr>
        <p:grpSpPr>
          <a:xfrm>
            <a:off x="723900" y="4000500"/>
            <a:ext cx="10744200" cy="2000100"/>
            <a:chOff x="0" y="0"/>
            <a:chExt cx="10744200" cy="2000100"/>
          </a:xfrm>
        </p:grpSpPr>
        <p:sp>
          <p:nvSpPr>
            <p:cNvPr id="458" name="Google Shape;458;p23"/>
            <p:cNvSpPr/>
            <p:nvPr/>
          </p:nvSpPr>
          <p:spPr>
            <a:xfrm>
              <a:off x="0" y="0"/>
              <a:ext cx="107442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9525">
              <a:solidFill>
                <a:srgbClr val="E3DEC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9" name="Google Shape;459;p23"/>
            <p:cNvSpPr txBox="1"/>
            <p:nvPr/>
          </p:nvSpPr>
          <p:spPr>
            <a:xfrm>
              <a:off x="228600" y="190500"/>
              <a:ext cx="10287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8">
                  <a:solidFill>
                    <a:srgbClr val="1E3324"/>
                  </a:solidFill>
                  <a:latin typeface="Quicksand"/>
                  <a:ea typeface="Quicksand"/>
                  <a:cs typeface="Quicksand"/>
                  <a:sym typeface="Quicksand"/>
                </a:rPr>
                <a:t>Aligned with National Missions</a:t>
              </a:r>
              <a:endParaRPr b="1" sz="1408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460" name="Google Shape;460;p23"/>
            <p:cNvGrpSpPr/>
            <p:nvPr/>
          </p:nvGrpSpPr>
          <p:grpSpPr>
            <a:xfrm>
              <a:off x="684985" y="636562"/>
              <a:ext cx="2428800" cy="342900"/>
              <a:chOff x="456385" y="141262"/>
              <a:chExt cx="2428800" cy="342900"/>
            </a:xfrm>
          </p:grpSpPr>
          <p:sp>
            <p:nvSpPr>
              <p:cNvPr id="461" name="Google Shape;461;p23"/>
              <p:cNvSpPr/>
              <p:nvPr/>
            </p:nvSpPr>
            <p:spPr>
              <a:xfrm>
                <a:off x="456385" y="141262"/>
                <a:ext cx="24288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F2EDE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462" name="Google Shape;462;p23"/>
              <p:cNvSpPr txBox="1"/>
              <p:nvPr/>
            </p:nvSpPr>
            <p:spPr>
              <a:xfrm>
                <a:off x="570685" y="217462"/>
                <a:ext cx="22002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98">
                    <a:solidFill>
                      <a:srgbClr val="BC6C25"/>
                    </a:solidFill>
                    <a:latin typeface="Nunito"/>
                    <a:ea typeface="Nunito"/>
                    <a:cs typeface="Nunito"/>
                    <a:sym typeface="Nunito"/>
                  </a:rPr>
                  <a:t>Startup India / DPIIT recognition</a:t>
                </a:r>
                <a:endParaRPr b="1" sz="1098">
                  <a:solidFill>
                    <a:srgbClr val="BC6C25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463" name="Google Shape;463;p23"/>
            <p:cNvGrpSpPr/>
            <p:nvPr/>
          </p:nvGrpSpPr>
          <p:grpSpPr>
            <a:xfrm>
              <a:off x="3228160" y="625696"/>
              <a:ext cx="1714500" cy="342900"/>
              <a:chOff x="456385" y="130396"/>
              <a:chExt cx="1714500" cy="342900"/>
            </a:xfrm>
          </p:grpSpPr>
          <p:sp>
            <p:nvSpPr>
              <p:cNvPr id="464" name="Google Shape;464;p23"/>
              <p:cNvSpPr/>
              <p:nvPr/>
            </p:nvSpPr>
            <p:spPr>
              <a:xfrm>
                <a:off x="456385" y="130396"/>
                <a:ext cx="17145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F2EDE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465" name="Google Shape;465;p23"/>
              <p:cNvSpPr txBox="1"/>
              <p:nvPr/>
            </p:nvSpPr>
            <p:spPr>
              <a:xfrm>
                <a:off x="570685" y="217462"/>
                <a:ext cx="1485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98">
                    <a:solidFill>
                      <a:srgbClr val="BC6C25"/>
                    </a:solidFill>
                    <a:latin typeface="Nunito"/>
                    <a:ea typeface="Nunito"/>
                    <a:cs typeface="Nunito"/>
                    <a:sym typeface="Nunito"/>
                  </a:rPr>
                  <a:t>IndiaAI Mission</a:t>
                </a:r>
                <a:endParaRPr b="1" sz="1098">
                  <a:solidFill>
                    <a:srgbClr val="BC6C25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466" name="Google Shape;466;p23"/>
            <p:cNvGrpSpPr/>
            <p:nvPr/>
          </p:nvGrpSpPr>
          <p:grpSpPr>
            <a:xfrm>
              <a:off x="5056960" y="625696"/>
              <a:ext cx="2095500" cy="342900"/>
              <a:chOff x="456385" y="130396"/>
              <a:chExt cx="2095500" cy="342900"/>
            </a:xfrm>
          </p:grpSpPr>
          <p:sp>
            <p:nvSpPr>
              <p:cNvPr id="467" name="Google Shape;467;p23"/>
              <p:cNvSpPr/>
              <p:nvPr/>
            </p:nvSpPr>
            <p:spPr>
              <a:xfrm>
                <a:off x="456385" y="130396"/>
                <a:ext cx="20955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F2EDE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468" name="Google Shape;468;p23"/>
              <p:cNvSpPr txBox="1"/>
              <p:nvPr/>
            </p:nvSpPr>
            <p:spPr>
              <a:xfrm>
                <a:off x="570685" y="217462"/>
                <a:ext cx="1866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98">
                    <a:solidFill>
                      <a:srgbClr val="BC6C25"/>
                    </a:solidFill>
                    <a:latin typeface="Nunito"/>
                    <a:ea typeface="Nunito"/>
                    <a:cs typeface="Nunito"/>
                    <a:sym typeface="Nunito"/>
                  </a:rPr>
                  <a:t>Digital Agriculture Mission</a:t>
                </a:r>
                <a:endParaRPr b="1" sz="1098">
                  <a:solidFill>
                    <a:srgbClr val="BC6C25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469" name="Google Shape;469;p23"/>
            <p:cNvGrpSpPr/>
            <p:nvPr/>
          </p:nvGrpSpPr>
          <p:grpSpPr>
            <a:xfrm>
              <a:off x="7266760" y="625696"/>
              <a:ext cx="2000100" cy="342900"/>
              <a:chOff x="456385" y="130396"/>
              <a:chExt cx="2000100" cy="342900"/>
            </a:xfrm>
          </p:grpSpPr>
          <p:sp>
            <p:nvSpPr>
              <p:cNvPr id="470" name="Google Shape;470;p23"/>
              <p:cNvSpPr/>
              <p:nvPr/>
            </p:nvSpPr>
            <p:spPr>
              <a:xfrm>
                <a:off x="456385" y="130396"/>
                <a:ext cx="20001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F2EDE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471" name="Google Shape;471;p23"/>
              <p:cNvSpPr txBox="1"/>
              <p:nvPr/>
            </p:nvSpPr>
            <p:spPr>
              <a:xfrm>
                <a:off x="570685" y="217462"/>
                <a:ext cx="17718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98">
                    <a:solidFill>
                      <a:srgbClr val="BC6C25"/>
                    </a:solidFill>
                    <a:latin typeface="Nunito"/>
                    <a:ea typeface="Nunito"/>
                    <a:cs typeface="Nunito"/>
                    <a:sym typeface="Nunito"/>
                  </a:rPr>
                  <a:t>PM eVidya / NEP 2020</a:t>
                </a:r>
                <a:endParaRPr b="1" sz="1098">
                  <a:solidFill>
                    <a:srgbClr val="BC6C25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sp>
          <p:nvSpPr>
            <p:cNvPr id="472" name="Google Shape;472;p23"/>
            <p:cNvSpPr txBox="1"/>
            <p:nvPr/>
          </p:nvSpPr>
          <p:spPr>
            <a:xfrm>
              <a:off x="228600" y="1409550"/>
              <a:ext cx="10287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3B4740"/>
                  </a:solidFill>
                  <a:latin typeface="Nunito"/>
                  <a:ea typeface="Nunito"/>
                  <a:cs typeface="Nunito"/>
                  <a:sym typeface="Nunito"/>
                </a:rPr>
                <a:t>VYOMAA LABS claims no formal affiliation with any of these programs beyond DPIIT recognition itself — </a:t>
              </a:r>
              <a:r>
                <a:rPr b="1" lang="en-US" sz="1300">
                  <a:solidFill>
                    <a:srgbClr val="1E3324"/>
                  </a:solidFill>
                  <a:latin typeface="Nunito"/>
                  <a:ea typeface="Nunito"/>
                  <a:cs typeface="Nunito"/>
                  <a:sym typeface="Nunito"/>
                </a:rPr>
                <a:t>the aim is to build toward the same goals, for the same people.</a:t>
              </a:r>
              <a:endParaRPr b="0" sz="1300">
                <a:solidFill>
                  <a:srgbClr val="3B474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cxnSp>
        <p:nvCxnSpPr>
          <p:cNvPr id="473" name="Google Shape;473;p23"/>
          <p:cNvCxnSpPr/>
          <p:nvPr/>
        </p:nvCxnSpPr>
        <p:spPr>
          <a:xfrm>
            <a:off x="723900" y="6200775"/>
            <a:ext cx="107442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3DE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4" name="Google Shape;474;p23"/>
          <p:cNvSpPr txBox="1"/>
          <p:nvPr/>
        </p:nvSpPr>
        <p:spPr>
          <a:xfrm>
            <a:off x="723900" y="632460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98">
                <a:solidFill>
                  <a:srgbClr val="707D74"/>
                </a:solidFill>
                <a:latin typeface="Nunito"/>
                <a:ea typeface="Nunito"/>
                <a:cs typeface="Nunito"/>
                <a:sym typeface="Nunito"/>
              </a:rPr>
              <a:t>VYOMAA LABS · PocketMind</a:t>
            </a:r>
            <a:endParaRPr b="0" sz="698">
              <a:solidFill>
                <a:srgbClr val="707D7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9F5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4"/>
          <p:cNvSpPr/>
          <p:nvPr/>
        </p:nvSpPr>
        <p:spPr>
          <a:xfrm>
            <a:off x="723900" y="6200775"/>
            <a:ext cx="107442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4"/>
          <p:cNvSpPr/>
          <p:nvPr/>
        </p:nvSpPr>
        <p:spPr>
          <a:xfrm>
            <a:off x="723900" y="6200775"/>
            <a:ext cx="10744200" cy="9525"/>
          </a:xfrm>
          <a:prstGeom prst="rect">
            <a:avLst/>
          </a:prstGeom>
          <a:solidFill>
            <a:srgbClr val="E3DE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4"/>
          <p:cNvSpPr/>
          <p:nvPr/>
        </p:nvSpPr>
        <p:spPr>
          <a:xfrm>
            <a:off x="723900" y="2741265"/>
            <a:ext cx="2543175" cy="2009775"/>
          </a:xfrm>
          <a:prstGeom prst="roundRect">
            <a:avLst>
              <a:gd fmla="val 7582" name="adj"/>
            </a:avLst>
          </a:prstGeom>
          <a:solidFill>
            <a:srgbClr val="F2EDE4"/>
          </a:solidFill>
          <a:ln cap="flat" cmpd="sng" w="9525">
            <a:solidFill>
              <a:srgbClr val="E3D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4"/>
          <p:cNvSpPr/>
          <p:nvPr/>
        </p:nvSpPr>
        <p:spPr>
          <a:xfrm>
            <a:off x="3457575" y="2741265"/>
            <a:ext cx="2543175" cy="2009775"/>
          </a:xfrm>
          <a:prstGeom prst="roundRect">
            <a:avLst>
              <a:gd fmla="val 7582" name="adj"/>
            </a:avLst>
          </a:prstGeom>
          <a:solidFill>
            <a:srgbClr val="F2EDE4"/>
          </a:solidFill>
          <a:ln cap="flat" cmpd="sng" w="9525">
            <a:solidFill>
              <a:srgbClr val="E3D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4"/>
          <p:cNvSpPr/>
          <p:nvPr/>
        </p:nvSpPr>
        <p:spPr>
          <a:xfrm>
            <a:off x="6191250" y="2741265"/>
            <a:ext cx="2543175" cy="2009775"/>
          </a:xfrm>
          <a:prstGeom prst="roundRect">
            <a:avLst>
              <a:gd fmla="val 7582" name="adj"/>
            </a:avLst>
          </a:prstGeom>
          <a:solidFill>
            <a:srgbClr val="F2EDE4"/>
          </a:solidFill>
          <a:ln cap="flat" cmpd="sng" w="9525">
            <a:solidFill>
              <a:srgbClr val="E3D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4"/>
          <p:cNvSpPr/>
          <p:nvPr/>
        </p:nvSpPr>
        <p:spPr>
          <a:xfrm>
            <a:off x="8924925" y="2741265"/>
            <a:ext cx="2543175" cy="2009775"/>
          </a:xfrm>
          <a:prstGeom prst="roundRect">
            <a:avLst>
              <a:gd fmla="val 7582" name="adj"/>
            </a:avLst>
          </a:prstGeom>
          <a:solidFill>
            <a:srgbClr val="F2EDE4"/>
          </a:solidFill>
          <a:ln cap="flat" cmpd="sng" w="9525">
            <a:solidFill>
              <a:srgbClr val="E3D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4"/>
          <p:cNvSpPr/>
          <p:nvPr/>
        </p:nvSpPr>
        <p:spPr>
          <a:xfrm>
            <a:off x="942975" y="4293840"/>
            <a:ext cx="2105025" cy="9525"/>
          </a:xfrm>
          <a:prstGeom prst="rect">
            <a:avLst/>
          </a:prstGeom>
          <a:solidFill>
            <a:srgbClr val="E3DE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4"/>
          <p:cNvSpPr/>
          <p:nvPr/>
        </p:nvSpPr>
        <p:spPr>
          <a:xfrm>
            <a:off x="3676650" y="4293840"/>
            <a:ext cx="2105025" cy="9525"/>
          </a:xfrm>
          <a:prstGeom prst="rect">
            <a:avLst/>
          </a:prstGeom>
          <a:solidFill>
            <a:srgbClr val="E3DE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4"/>
          <p:cNvSpPr/>
          <p:nvPr/>
        </p:nvSpPr>
        <p:spPr>
          <a:xfrm>
            <a:off x="6410325" y="4293840"/>
            <a:ext cx="2105025" cy="9525"/>
          </a:xfrm>
          <a:prstGeom prst="rect">
            <a:avLst/>
          </a:prstGeom>
          <a:solidFill>
            <a:srgbClr val="E3DE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4"/>
          <p:cNvSpPr/>
          <p:nvPr/>
        </p:nvSpPr>
        <p:spPr>
          <a:xfrm>
            <a:off x="9144000" y="4293840"/>
            <a:ext cx="2105025" cy="9525"/>
          </a:xfrm>
          <a:prstGeom prst="rect">
            <a:avLst/>
          </a:prstGeom>
          <a:solidFill>
            <a:srgbClr val="E3DE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4"/>
          <p:cNvSpPr/>
          <p:nvPr/>
        </p:nvSpPr>
        <p:spPr>
          <a:xfrm>
            <a:off x="942975" y="3398490"/>
            <a:ext cx="342900" cy="28575"/>
          </a:xfrm>
          <a:prstGeom prst="rect">
            <a:avLst/>
          </a:prstGeom>
          <a:solidFill>
            <a:srgbClr val="BC6C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4"/>
          <p:cNvSpPr/>
          <p:nvPr/>
        </p:nvSpPr>
        <p:spPr>
          <a:xfrm>
            <a:off x="3676650" y="3398490"/>
            <a:ext cx="342900" cy="28575"/>
          </a:xfrm>
          <a:prstGeom prst="rect">
            <a:avLst/>
          </a:prstGeom>
          <a:solidFill>
            <a:srgbClr val="BC6C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4"/>
          <p:cNvSpPr/>
          <p:nvPr/>
        </p:nvSpPr>
        <p:spPr>
          <a:xfrm>
            <a:off x="6410325" y="3398490"/>
            <a:ext cx="342900" cy="28575"/>
          </a:xfrm>
          <a:prstGeom prst="rect">
            <a:avLst/>
          </a:prstGeom>
          <a:solidFill>
            <a:srgbClr val="BC6C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4"/>
          <p:cNvSpPr/>
          <p:nvPr/>
        </p:nvSpPr>
        <p:spPr>
          <a:xfrm>
            <a:off x="9144000" y="3398490"/>
            <a:ext cx="342900" cy="28575"/>
          </a:xfrm>
          <a:prstGeom prst="rect">
            <a:avLst/>
          </a:prstGeom>
          <a:solidFill>
            <a:srgbClr val="BC6C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4"/>
          <p:cNvSpPr txBox="1"/>
          <p:nvPr/>
        </p:nvSpPr>
        <p:spPr>
          <a:xfrm>
            <a:off x="723900" y="457200"/>
            <a:ext cx="11468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BC6C25"/>
                </a:solidFill>
                <a:latin typeface="Quicksand"/>
                <a:ea typeface="Quicksand"/>
                <a:cs typeface="Quicksand"/>
                <a:sym typeface="Quicksand"/>
              </a:rPr>
              <a:t>MARKET SCOPE</a:t>
            </a:r>
            <a:endParaRPr/>
          </a:p>
        </p:txBody>
      </p:sp>
      <p:sp>
        <p:nvSpPr>
          <p:cNvPr id="494" name="Google Shape;494;p24"/>
          <p:cNvSpPr txBox="1"/>
          <p:nvPr/>
        </p:nvSpPr>
        <p:spPr>
          <a:xfrm>
            <a:off x="723900" y="666750"/>
            <a:ext cx="11381422" cy="7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rPr>
              <a:t>Hundreds of millions need AI but lack the internet and budget cloud AI demands.</a:t>
            </a:r>
            <a:endParaRPr/>
          </a:p>
        </p:txBody>
      </p:sp>
      <p:sp>
        <p:nvSpPr>
          <p:cNvPr id="495" name="Google Shape;495;p24"/>
          <p:cNvSpPr txBox="1"/>
          <p:nvPr/>
        </p:nvSpPr>
        <p:spPr>
          <a:xfrm>
            <a:off x="-309562" y="4903440"/>
            <a:ext cx="12811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5C6B60"/>
                </a:solidFill>
                <a:latin typeface="Nunito"/>
                <a:ea typeface="Nunito"/>
                <a:cs typeface="Nunito"/>
                <a:sym typeface="Nunito"/>
              </a:rPr>
              <a:t> An active internet user does not always have a reliable connection in the field or classroom. </a:t>
            </a:r>
            <a:endParaRPr/>
          </a:p>
        </p:txBody>
      </p:sp>
      <p:sp>
        <p:nvSpPr>
          <p:cNvPr id="496" name="Google Shape;496;p24"/>
          <p:cNvSpPr txBox="1"/>
          <p:nvPr/>
        </p:nvSpPr>
        <p:spPr>
          <a:xfrm>
            <a:off x="723900" y="6324600"/>
            <a:ext cx="18811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07D74"/>
                </a:solidFill>
                <a:latin typeface="Nunito"/>
                <a:ea typeface="Nunito"/>
                <a:cs typeface="Nunito"/>
                <a:sym typeface="Nunito"/>
              </a:rPr>
              <a:t>VYOMAA LABS | PocketMind</a:t>
            </a:r>
            <a:endParaRPr/>
          </a:p>
        </p:txBody>
      </p:sp>
      <p:sp>
        <p:nvSpPr>
          <p:cNvPr id="497" name="Google Shape;497;p24"/>
          <p:cNvSpPr txBox="1"/>
          <p:nvPr/>
        </p:nvSpPr>
        <p:spPr>
          <a:xfrm>
            <a:off x="11115675" y="6324600"/>
            <a:ext cx="6381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07D74"/>
                </a:solidFill>
                <a:latin typeface="Nunito"/>
                <a:ea typeface="Nunito"/>
                <a:cs typeface="Nunito"/>
                <a:sym typeface="Nunito"/>
              </a:rPr>
              <a:t>10 / 12</a:t>
            </a:r>
            <a:endParaRPr/>
          </a:p>
        </p:txBody>
      </p:sp>
      <p:sp>
        <p:nvSpPr>
          <p:cNvPr id="498" name="Google Shape;498;p24"/>
          <p:cNvSpPr txBox="1"/>
          <p:nvPr/>
        </p:nvSpPr>
        <p:spPr>
          <a:xfrm>
            <a:off x="942975" y="4370040"/>
            <a:ext cx="22002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07D74"/>
                </a:solidFill>
                <a:latin typeface="Nunito"/>
                <a:ea typeface="Nunito"/>
                <a:cs typeface="Nunito"/>
                <a:sym typeface="Nunito"/>
              </a:rPr>
              <a:t>Source: IAMAI, 2025</a:t>
            </a:r>
            <a:endParaRPr/>
          </a:p>
        </p:txBody>
      </p:sp>
      <p:sp>
        <p:nvSpPr>
          <p:cNvPr id="499" name="Google Shape;499;p24"/>
          <p:cNvSpPr txBox="1"/>
          <p:nvPr/>
        </p:nvSpPr>
        <p:spPr>
          <a:xfrm>
            <a:off x="3676650" y="4370040"/>
            <a:ext cx="22002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07D74"/>
                </a:solidFill>
                <a:latin typeface="Nunito"/>
                <a:ea typeface="Nunito"/>
                <a:cs typeface="Nunito"/>
                <a:sym typeface="Nunito"/>
              </a:rPr>
              <a:t>Source: UDISE+ 2024-25</a:t>
            </a:r>
            <a:endParaRPr/>
          </a:p>
        </p:txBody>
      </p:sp>
      <p:sp>
        <p:nvSpPr>
          <p:cNvPr id="500" name="Google Shape;500;p24"/>
          <p:cNvSpPr txBox="1"/>
          <p:nvPr/>
        </p:nvSpPr>
        <p:spPr>
          <a:xfrm>
            <a:off x="6410325" y="4370040"/>
            <a:ext cx="22002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07D74"/>
                </a:solidFill>
                <a:latin typeface="Nunito"/>
                <a:ea typeface="Nunito"/>
                <a:cs typeface="Nunito"/>
                <a:sym typeface="Nunito"/>
              </a:rPr>
              <a:t>Source: Agriculture Census 2015-16</a:t>
            </a:r>
            <a:endParaRPr/>
          </a:p>
        </p:txBody>
      </p:sp>
      <p:sp>
        <p:nvSpPr>
          <p:cNvPr id="501" name="Google Shape;501;p24"/>
          <p:cNvSpPr txBox="1"/>
          <p:nvPr/>
        </p:nvSpPr>
        <p:spPr>
          <a:xfrm>
            <a:off x="9144000" y="4370040"/>
            <a:ext cx="22002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07D74"/>
                </a:solidFill>
                <a:latin typeface="Nunito"/>
                <a:ea typeface="Nunito"/>
                <a:cs typeface="Nunito"/>
                <a:sym typeface="Nunito"/>
              </a:rPr>
              <a:t>Source: Brickwork, 2024</a:t>
            </a:r>
            <a:endParaRPr/>
          </a:p>
        </p:txBody>
      </p:sp>
      <p:sp>
        <p:nvSpPr>
          <p:cNvPr id="502" name="Google Shape;502;p24"/>
          <p:cNvSpPr txBox="1"/>
          <p:nvPr/>
        </p:nvSpPr>
        <p:spPr>
          <a:xfrm>
            <a:off x="942975" y="2960340"/>
            <a:ext cx="263128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rPr>
              <a:t>958M</a:t>
            </a:r>
            <a:endParaRPr/>
          </a:p>
        </p:txBody>
      </p:sp>
      <p:sp>
        <p:nvSpPr>
          <p:cNvPr id="503" name="Google Shape;503;p24"/>
          <p:cNvSpPr txBox="1"/>
          <p:nvPr/>
        </p:nvSpPr>
        <p:spPr>
          <a:xfrm>
            <a:off x="942975" y="3541365"/>
            <a:ext cx="22002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B4740"/>
                </a:solidFill>
                <a:latin typeface="Nunito"/>
                <a:ea typeface="Nunito"/>
                <a:cs typeface="Nunito"/>
                <a:sym typeface="Nunito"/>
              </a:rPr>
              <a:t>Active internet users in India; about 548M (57%) in rural areas.</a:t>
            </a:r>
            <a:endParaRPr/>
          </a:p>
        </p:txBody>
      </p:sp>
      <p:sp>
        <p:nvSpPr>
          <p:cNvPr id="504" name="Google Shape;504;p24"/>
          <p:cNvSpPr txBox="1"/>
          <p:nvPr/>
        </p:nvSpPr>
        <p:spPr>
          <a:xfrm>
            <a:off x="3676650" y="2960340"/>
            <a:ext cx="263128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rPr>
              <a:t>14.7 lakh</a:t>
            </a:r>
            <a:endParaRPr/>
          </a:p>
        </p:txBody>
      </p:sp>
      <p:sp>
        <p:nvSpPr>
          <p:cNvPr id="505" name="Google Shape;505;p24"/>
          <p:cNvSpPr txBox="1"/>
          <p:nvPr/>
        </p:nvSpPr>
        <p:spPr>
          <a:xfrm>
            <a:off x="3676650" y="3541365"/>
            <a:ext cx="263128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B4740"/>
                </a:solidFill>
                <a:latin typeface="Nunito"/>
                <a:ea typeface="Nunito"/>
                <a:cs typeface="Nunito"/>
                <a:sym typeface="Nunito"/>
              </a:rPr>
              <a:t>Schools; 63.5% have internet.</a:t>
            </a:r>
            <a:endParaRPr/>
          </a:p>
        </p:txBody>
      </p:sp>
      <p:sp>
        <p:nvSpPr>
          <p:cNvPr id="506" name="Google Shape;506;p24"/>
          <p:cNvSpPr txBox="1"/>
          <p:nvPr/>
        </p:nvSpPr>
        <p:spPr>
          <a:xfrm>
            <a:off x="6410325" y="2960340"/>
            <a:ext cx="263128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rPr>
              <a:t>14.6 crore</a:t>
            </a:r>
            <a:endParaRPr/>
          </a:p>
        </p:txBody>
      </p:sp>
      <p:sp>
        <p:nvSpPr>
          <p:cNvPr id="507" name="Google Shape;507;p24"/>
          <p:cNvSpPr txBox="1"/>
          <p:nvPr/>
        </p:nvSpPr>
        <p:spPr>
          <a:xfrm>
            <a:off x="6410325" y="3541365"/>
            <a:ext cx="22002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B4740"/>
                </a:solidFill>
                <a:latin typeface="Nunito"/>
                <a:ea typeface="Nunito"/>
                <a:cs typeface="Nunito"/>
                <a:sym typeface="Nunito"/>
              </a:rPr>
              <a:t>Operational farm holdings; 86% small or marginal.</a:t>
            </a:r>
            <a:endParaRPr/>
          </a:p>
        </p:txBody>
      </p:sp>
      <p:sp>
        <p:nvSpPr>
          <p:cNvPr id="508" name="Google Shape;508;p24"/>
          <p:cNvSpPr txBox="1"/>
          <p:nvPr/>
        </p:nvSpPr>
        <p:spPr>
          <a:xfrm>
            <a:off x="9144000" y="2960340"/>
            <a:ext cx="263128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rPr>
              <a:t>7.4M</a:t>
            </a:r>
            <a:endParaRPr/>
          </a:p>
        </p:txBody>
      </p:sp>
      <p:sp>
        <p:nvSpPr>
          <p:cNvPr id="509" name="Google Shape;509;p24"/>
          <p:cNvSpPr txBox="1"/>
          <p:nvPr/>
        </p:nvSpPr>
        <p:spPr>
          <a:xfrm>
            <a:off x="9144000" y="3541365"/>
            <a:ext cx="22002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B4740"/>
                </a:solidFill>
                <a:latin typeface="Nunito"/>
                <a:ea typeface="Nunito"/>
                <a:cs typeface="Nunito"/>
                <a:sym typeface="Nunito"/>
              </a:rPr>
              <a:t>Commercial vehicles on Indian roads; about 3.5M with telematics.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9F5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5"/>
          <p:cNvSpPr/>
          <p:nvPr/>
        </p:nvSpPr>
        <p:spPr>
          <a:xfrm>
            <a:off x="723900" y="6200775"/>
            <a:ext cx="107442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5"/>
          <p:cNvSpPr/>
          <p:nvPr/>
        </p:nvSpPr>
        <p:spPr>
          <a:xfrm>
            <a:off x="723900" y="6200775"/>
            <a:ext cx="10744200" cy="9525"/>
          </a:xfrm>
          <a:prstGeom prst="rect">
            <a:avLst/>
          </a:prstGeom>
          <a:solidFill>
            <a:srgbClr val="E3DE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5"/>
          <p:cNvSpPr/>
          <p:nvPr/>
        </p:nvSpPr>
        <p:spPr>
          <a:xfrm>
            <a:off x="723900" y="2427215"/>
            <a:ext cx="3454200" cy="1264800"/>
          </a:xfrm>
          <a:prstGeom prst="roundRect">
            <a:avLst>
              <a:gd fmla="val 12049" name="adj"/>
            </a:avLst>
          </a:prstGeom>
          <a:solidFill>
            <a:srgbClr val="F2EDE4"/>
          </a:solidFill>
          <a:ln cap="flat" cmpd="sng" w="9525">
            <a:solidFill>
              <a:srgbClr val="E3D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5"/>
          <p:cNvSpPr/>
          <p:nvPr/>
        </p:nvSpPr>
        <p:spPr>
          <a:xfrm>
            <a:off x="4368700" y="2427215"/>
            <a:ext cx="3454500" cy="1264800"/>
          </a:xfrm>
          <a:prstGeom prst="roundRect">
            <a:avLst>
              <a:gd fmla="val 12049" name="adj"/>
            </a:avLst>
          </a:prstGeom>
          <a:solidFill>
            <a:srgbClr val="F2EDE4"/>
          </a:solidFill>
          <a:ln cap="flat" cmpd="sng" w="9525">
            <a:solidFill>
              <a:srgbClr val="E3D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5"/>
          <p:cNvSpPr/>
          <p:nvPr/>
        </p:nvSpPr>
        <p:spPr>
          <a:xfrm>
            <a:off x="8013650" y="2427215"/>
            <a:ext cx="3454200" cy="1264800"/>
          </a:xfrm>
          <a:prstGeom prst="roundRect">
            <a:avLst>
              <a:gd fmla="val 12049" name="adj"/>
            </a:avLst>
          </a:prstGeom>
          <a:solidFill>
            <a:srgbClr val="F2EDE4"/>
          </a:solidFill>
          <a:ln cap="flat" cmpd="sng" w="9525">
            <a:solidFill>
              <a:srgbClr val="E3D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5"/>
          <p:cNvSpPr/>
          <p:nvPr/>
        </p:nvSpPr>
        <p:spPr>
          <a:xfrm>
            <a:off x="723900" y="3882456"/>
            <a:ext cx="3454200" cy="1264800"/>
          </a:xfrm>
          <a:prstGeom prst="roundRect">
            <a:avLst>
              <a:gd fmla="val 12049" name="adj"/>
            </a:avLst>
          </a:prstGeom>
          <a:solidFill>
            <a:srgbClr val="F2EDE4"/>
          </a:solidFill>
          <a:ln cap="flat" cmpd="sng" w="9525">
            <a:solidFill>
              <a:srgbClr val="E3D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5"/>
          <p:cNvSpPr/>
          <p:nvPr/>
        </p:nvSpPr>
        <p:spPr>
          <a:xfrm>
            <a:off x="4368700" y="3882456"/>
            <a:ext cx="3454500" cy="1264800"/>
          </a:xfrm>
          <a:prstGeom prst="roundRect">
            <a:avLst>
              <a:gd fmla="val 12049" name="adj"/>
            </a:avLst>
          </a:prstGeom>
          <a:solidFill>
            <a:srgbClr val="F2EDE4"/>
          </a:solidFill>
          <a:ln cap="flat" cmpd="sng" w="9525">
            <a:solidFill>
              <a:srgbClr val="E3D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5"/>
          <p:cNvSpPr/>
          <p:nvPr/>
        </p:nvSpPr>
        <p:spPr>
          <a:xfrm>
            <a:off x="8013650" y="3882456"/>
            <a:ext cx="3454200" cy="1264800"/>
          </a:xfrm>
          <a:prstGeom prst="roundRect">
            <a:avLst>
              <a:gd fmla="val 12049" name="adj"/>
            </a:avLst>
          </a:prstGeom>
          <a:solidFill>
            <a:srgbClr val="F2EDE4"/>
          </a:solidFill>
          <a:ln cap="flat" cmpd="sng" w="9525">
            <a:solidFill>
              <a:srgbClr val="E3D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5"/>
          <p:cNvSpPr/>
          <p:nvPr/>
        </p:nvSpPr>
        <p:spPr>
          <a:xfrm>
            <a:off x="942975" y="2646290"/>
            <a:ext cx="304800" cy="28500"/>
          </a:xfrm>
          <a:prstGeom prst="rect">
            <a:avLst/>
          </a:prstGeom>
          <a:solidFill>
            <a:srgbClr val="BC6C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5"/>
          <p:cNvSpPr/>
          <p:nvPr/>
        </p:nvSpPr>
        <p:spPr>
          <a:xfrm>
            <a:off x="4587775" y="2646290"/>
            <a:ext cx="304800" cy="28500"/>
          </a:xfrm>
          <a:prstGeom prst="rect">
            <a:avLst/>
          </a:prstGeom>
          <a:solidFill>
            <a:srgbClr val="BC6C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5"/>
          <p:cNvSpPr/>
          <p:nvPr/>
        </p:nvSpPr>
        <p:spPr>
          <a:xfrm>
            <a:off x="8232725" y="2646290"/>
            <a:ext cx="304800" cy="28500"/>
          </a:xfrm>
          <a:prstGeom prst="rect">
            <a:avLst/>
          </a:prstGeom>
          <a:solidFill>
            <a:srgbClr val="BC6C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5"/>
          <p:cNvSpPr/>
          <p:nvPr/>
        </p:nvSpPr>
        <p:spPr>
          <a:xfrm>
            <a:off x="942975" y="4101531"/>
            <a:ext cx="304800" cy="28500"/>
          </a:xfrm>
          <a:prstGeom prst="rect">
            <a:avLst/>
          </a:prstGeom>
          <a:solidFill>
            <a:srgbClr val="BC6C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5"/>
          <p:cNvSpPr/>
          <p:nvPr/>
        </p:nvSpPr>
        <p:spPr>
          <a:xfrm>
            <a:off x="4587775" y="4101531"/>
            <a:ext cx="304800" cy="28500"/>
          </a:xfrm>
          <a:prstGeom prst="rect">
            <a:avLst/>
          </a:prstGeom>
          <a:solidFill>
            <a:srgbClr val="BC6C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5"/>
          <p:cNvSpPr/>
          <p:nvPr/>
        </p:nvSpPr>
        <p:spPr>
          <a:xfrm>
            <a:off x="8232725" y="4101531"/>
            <a:ext cx="304800" cy="28500"/>
          </a:xfrm>
          <a:prstGeom prst="rect">
            <a:avLst/>
          </a:prstGeom>
          <a:solidFill>
            <a:srgbClr val="BC6C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5"/>
          <p:cNvSpPr txBox="1"/>
          <p:nvPr/>
        </p:nvSpPr>
        <p:spPr>
          <a:xfrm>
            <a:off x="723900" y="457200"/>
            <a:ext cx="11468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BC6C25"/>
                </a:solidFill>
                <a:latin typeface="Quicksand"/>
                <a:ea typeface="Quicksand"/>
                <a:cs typeface="Quicksand"/>
                <a:sym typeface="Quicksand"/>
              </a:rPr>
              <a:t>BUSINESS MODEL</a:t>
            </a:r>
            <a:endParaRPr/>
          </a:p>
        </p:txBody>
      </p:sp>
      <p:sp>
        <p:nvSpPr>
          <p:cNvPr id="529" name="Google Shape;529;p25"/>
          <p:cNvSpPr txBox="1"/>
          <p:nvPr/>
        </p:nvSpPr>
        <p:spPr>
          <a:xfrm>
            <a:off x="723900" y="666750"/>
            <a:ext cx="11381422" cy="7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rPr>
              <a:t>Free or low-cost for people. Paid by institutions that already have budgets.</a:t>
            </a:r>
            <a:endParaRPr/>
          </a:p>
        </p:txBody>
      </p:sp>
      <p:sp>
        <p:nvSpPr>
          <p:cNvPr id="530" name="Google Shape;530;p25"/>
          <p:cNvSpPr txBox="1"/>
          <p:nvPr/>
        </p:nvSpPr>
        <p:spPr>
          <a:xfrm>
            <a:off x="723900" y="6324600"/>
            <a:ext cx="18811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07D74"/>
                </a:solidFill>
                <a:latin typeface="Nunito"/>
                <a:ea typeface="Nunito"/>
                <a:cs typeface="Nunito"/>
                <a:sym typeface="Nunito"/>
              </a:rPr>
              <a:t>VYOMAA LABS | PocketMind</a:t>
            </a:r>
            <a:endParaRPr/>
          </a:p>
        </p:txBody>
      </p:sp>
      <p:sp>
        <p:nvSpPr>
          <p:cNvPr id="531" name="Google Shape;531;p25"/>
          <p:cNvSpPr txBox="1"/>
          <p:nvPr/>
        </p:nvSpPr>
        <p:spPr>
          <a:xfrm>
            <a:off x="11115675" y="6324600"/>
            <a:ext cx="6381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07D74"/>
                </a:solidFill>
                <a:latin typeface="Nunito"/>
                <a:ea typeface="Nunito"/>
                <a:cs typeface="Nunito"/>
                <a:sym typeface="Nunito"/>
              </a:rPr>
              <a:t>11 / 12</a:t>
            </a:r>
            <a:endParaRPr/>
          </a:p>
        </p:txBody>
      </p:sp>
      <p:sp>
        <p:nvSpPr>
          <p:cNvPr id="532" name="Google Shape;532;p25"/>
          <p:cNvSpPr txBox="1"/>
          <p:nvPr/>
        </p:nvSpPr>
        <p:spPr>
          <a:xfrm>
            <a:off x="942975" y="2770115"/>
            <a:ext cx="39588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BC6C25"/>
                </a:solidFill>
                <a:latin typeface="Quicksand"/>
                <a:ea typeface="Quicksand"/>
                <a:cs typeface="Quicksand"/>
                <a:sym typeface="Quicksand"/>
              </a:rPr>
              <a:t>Schools and universities</a:t>
            </a:r>
            <a:endParaRPr/>
          </a:p>
        </p:txBody>
      </p:sp>
      <p:sp>
        <p:nvSpPr>
          <p:cNvPr id="533" name="Google Shape;533;p25"/>
          <p:cNvSpPr txBox="1"/>
          <p:nvPr/>
        </p:nvSpPr>
        <p:spPr>
          <a:xfrm>
            <a:off x="942975" y="3046340"/>
            <a:ext cx="31113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3324"/>
                </a:solidFill>
                <a:latin typeface="Nunito"/>
                <a:ea typeface="Nunito"/>
                <a:cs typeface="Nunito"/>
                <a:sym typeface="Nunito"/>
              </a:rPr>
              <a:t>Per-seat and per-institution licences for LearnLoop.</a:t>
            </a:r>
            <a:endParaRPr/>
          </a:p>
        </p:txBody>
      </p:sp>
      <p:sp>
        <p:nvSpPr>
          <p:cNvPr id="534" name="Google Shape;534;p25"/>
          <p:cNvSpPr txBox="1"/>
          <p:nvPr/>
        </p:nvSpPr>
        <p:spPr>
          <a:xfrm>
            <a:off x="4587775" y="2770115"/>
            <a:ext cx="39588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BC6C25"/>
                </a:solidFill>
                <a:latin typeface="Quicksand"/>
                <a:ea typeface="Quicksand"/>
                <a:cs typeface="Quicksand"/>
                <a:sym typeface="Quicksand"/>
              </a:rPr>
              <a:t>Agri co-ops and FPOs</a:t>
            </a:r>
            <a:endParaRPr/>
          </a:p>
        </p:txBody>
      </p:sp>
      <p:sp>
        <p:nvSpPr>
          <p:cNvPr id="535" name="Google Shape;535;p25"/>
          <p:cNvSpPr txBox="1"/>
          <p:nvPr/>
        </p:nvSpPr>
        <p:spPr>
          <a:xfrm>
            <a:off x="4587775" y="3046340"/>
            <a:ext cx="3111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3324"/>
                </a:solidFill>
                <a:latin typeface="Nunito"/>
                <a:ea typeface="Nunito"/>
                <a:cs typeface="Nunito"/>
                <a:sym typeface="Nunito"/>
              </a:rPr>
              <a:t>Farmer advisory subscriptions and local crop-knowledge packs.</a:t>
            </a:r>
            <a:endParaRPr/>
          </a:p>
        </p:txBody>
      </p:sp>
      <p:sp>
        <p:nvSpPr>
          <p:cNvPr id="536" name="Google Shape;536;p25"/>
          <p:cNvSpPr txBox="1"/>
          <p:nvPr/>
        </p:nvSpPr>
        <p:spPr>
          <a:xfrm>
            <a:off x="8232725" y="2770115"/>
            <a:ext cx="39588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BC6C25"/>
                </a:solidFill>
                <a:latin typeface="Quicksand"/>
                <a:ea typeface="Quicksand"/>
                <a:cs typeface="Quicksand"/>
                <a:sym typeface="Quicksand"/>
              </a:rPr>
              <a:t>Commercial fleets</a:t>
            </a:r>
            <a:endParaRPr/>
          </a:p>
        </p:txBody>
      </p:sp>
      <p:sp>
        <p:nvSpPr>
          <p:cNvPr id="537" name="Google Shape;537;p25"/>
          <p:cNvSpPr txBox="1"/>
          <p:nvPr/>
        </p:nvSpPr>
        <p:spPr>
          <a:xfrm>
            <a:off x="8232725" y="3046340"/>
            <a:ext cx="31113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3324"/>
                </a:solidFill>
                <a:latin typeface="Nunito"/>
                <a:ea typeface="Nunito"/>
                <a:cs typeface="Nunito"/>
                <a:sym typeface="Nunito"/>
              </a:rPr>
              <a:t>Edge hardware unit plus a per-vehicle monthly subscription.</a:t>
            </a:r>
            <a:endParaRPr/>
          </a:p>
        </p:txBody>
      </p:sp>
      <p:sp>
        <p:nvSpPr>
          <p:cNvPr id="538" name="Google Shape;538;p25"/>
          <p:cNvSpPr txBox="1"/>
          <p:nvPr/>
        </p:nvSpPr>
        <p:spPr>
          <a:xfrm>
            <a:off x="942975" y="4225356"/>
            <a:ext cx="39588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BC6C25"/>
                </a:solidFill>
                <a:latin typeface="Quicksand"/>
                <a:ea typeface="Quicksand"/>
                <a:cs typeface="Quicksand"/>
                <a:sym typeface="Quicksand"/>
              </a:rPr>
              <a:t>Developers and OEMs</a:t>
            </a:r>
            <a:endParaRPr/>
          </a:p>
        </p:txBody>
      </p:sp>
      <p:sp>
        <p:nvSpPr>
          <p:cNvPr id="539" name="Google Shape;539;p25"/>
          <p:cNvSpPr txBox="1"/>
          <p:nvPr/>
        </p:nvSpPr>
        <p:spPr>
          <a:xfrm>
            <a:off x="942975" y="4501581"/>
            <a:ext cx="31113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3324"/>
                </a:solidFill>
                <a:latin typeface="Nunito"/>
                <a:ea typeface="Nunito"/>
                <a:cs typeface="Nunito"/>
                <a:sym typeface="Nunito"/>
              </a:rPr>
              <a:t>PocketMind SDK licence and domain model packs.</a:t>
            </a:r>
            <a:endParaRPr/>
          </a:p>
        </p:txBody>
      </p:sp>
      <p:sp>
        <p:nvSpPr>
          <p:cNvPr id="540" name="Google Shape;540;p25"/>
          <p:cNvSpPr txBox="1"/>
          <p:nvPr/>
        </p:nvSpPr>
        <p:spPr>
          <a:xfrm>
            <a:off x="4587775" y="4225356"/>
            <a:ext cx="39588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BC6C25"/>
                </a:solidFill>
                <a:latin typeface="Quicksand"/>
                <a:ea typeface="Quicksand"/>
                <a:cs typeface="Quicksand"/>
                <a:sym typeface="Quicksand"/>
              </a:rPr>
              <a:t>Governments</a:t>
            </a:r>
            <a:endParaRPr/>
          </a:p>
        </p:txBody>
      </p:sp>
      <p:sp>
        <p:nvSpPr>
          <p:cNvPr id="541" name="Google Shape;541;p25"/>
          <p:cNvSpPr txBox="1"/>
          <p:nvPr/>
        </p:nvSpPr>
        <p:spPr>
          <a:xfrm>
            <a:off x="4587775" y="4501581"/>
            <a:ext cx="3111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3324"/>
                </a:solidFill>
                <a:latin typeface="Nunito"/>
                <a:ea typeface="Nunito"/>
                <a:cs typeface="Nunito"/>
                <a:sym typeface="Nunito"/>
              </a:rPr>
              <a:t>Deployment, localisation and citizen-service contracts.</a:t>
            </a:r>
            <a:endParaRPr/>
          </a:p>
        </p:txBody>
      </p:sp>
      <p:sp>
        <p:nvSpPr>
          <p:cNvPr id="542" name="Google Shape;542;p25"/>
          <p:cNvSpPr txBox="1"/>
          <p:nvPr/>
        </p:nvSpPr>
        <p:spPr>
          <a:xfrm>
            <a:off x="8232725" y="4225356"/>
            <a:ext cx="39588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BC6C25"/>
                </a:solidFill>
                <a:latin typeface="Quicksand"/>
                <a:ea typeface="Quicksand"/>
                <a:cs typeface="Quicksand"/>
                <a:sym typeface="Quicksand"/>
              </a:rPr>
              <a:t>Clinics (next)</a:t>
            </a:r>
            <a:endParaRPr/>
          </a:p>
        </p:txBody>
      </p:sp>
      <p:sp>
        <p:nvSpPr>
          <p:cNvPr id="543" name="Google Shape;543;p25"/>
          <p:cNvSpPr txBox="1"/>
          <p:nvPr/>
        </p:nvSpPr>
        <p:spPr>
          <a:xfrm>
            <a:off x="8232725" y="4501581"/>
            <a:ext cx="377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3324"/>
                </a:solidFill>
                <a:latin typeface="Nunito"/>
                <a:ea typeface="Nunito"/>
                <a:cs typeface="Nunito"/>
                <a:sym typeface="Nunito"/>
              </a:rPr>
              <a:t>MedNotes licence per practitioner.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9F5"/>
        </a:soli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6"/>
          <p:cNvSpPr/>
          <p:nvPr/>
        </p:nvSpPr>
        <p:spPr>
          <a:xfrm>
            <a:off x="723900" y="6200775"/>
            <a:ext cx="107442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6"/>
          <p:cNvSpPr/>
          <p:nvPr/>
        </p:nvSpPr>
        <p:spPr>
          <a:xfrm>
            <a:off x="723900" y="1821617"/>
            <a:ext cx="6146100" cy="3411000"/>
          </a:xfrm>
          <a:prstGeom prst="roundRect">
            <a:avLst>
              <a:gd fmla="val 4171" name="adj"/>
            </a:avLst>
          </a:prstGeom>
          <a:solidFill>
            <a:srgbClr val="F2EDE4"/>
          </a:solidFill>
          <a:ln cap="flat" cmpd="sng" w="9525">
            <a:solidFill>
              <a:srgbClr val="E3D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6"/>
          <p:cNvSpPr/>
          <p:nvPr/>
        </p:nvSpPr>
        <p:spPr>
          <a:xfrm>
            <a:off x="723900" y="6200775"/>
            <a:ext cx="10744200" cy="9600"/>
          </a:xfrm>
          <a:prstGeom prst="rect">
            <a:avLst/>
          </a:prstGeom>
          <a:solidFill>
            <a:srgbClr val="E3DE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6"/>
          <p:cNvSpPr/>
          <p:nvPr/>
        </p:nvSpPr>
        <p:spPr>
          <a:xfrm>
            <a:off x="7383129" y="3045529"/>
            <a:ext cx="4255200" cy="1087500"/>
          </a:xfrm>
          <a:prstGeom prst="roundRect">
            <a:avLst>
              <a:gd fmla="val 14012" name="adj"/>
            </a:avLst>
          </a:prstGeom>
          <a:solidFill>
            <a:srgbClr val="FFFFFF"/>
          </a:solidFill>
          <a:ln cap="flat" cmpd="sng" w="19050">
            <a:solidFill>
              <a:srgbClr val="BC6C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6"/>
          <p:cNvSpPr/>
          <p:nvPr/>
        </p:nvSpPr>
        <p:spPr>
          <a:xfrm>
            <a:off x="981075" y="2568441"/>
            <a:ext cx="1047900" cy="266700"/>
          </a:xfrm>
          <a:prstGeom prst="roundRect">
            <a:avLst>
              <a:gd fmla="val 21428" name="adj"/>
            </a:avLst>
          </a:prstGeom>
          <a:solidFill>
            <a:srgbClr val="DCDDD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6"/>
          <p:cNvSpPr/>
          <p:nvPr/>
        </p:nvSpPr>
        <p:spPr>
          <a:xfrm>
            <a:off x="981075" y="3187566"/>
            <a:ext cx="1047900" cy="266700"/>
          </a:xfrm>
          <a:prstGeom prst="roundRect">
            <a:avLst>
              <a:gd fmla="val 21428" name="adj"/>
            </a:avLst>
          </a:prstGeom>
          <a:solidFill>
            <a:srgbClr val="DCDDD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6"/>
          <p:cNvSpPr/>
          <p:nvPr/>
        </p:nvSpPr>
        <p:spPr>
          <a:xfrm>
            <a:off x="981075" y="3806691"/>
            <a:ext cx="1047900" cy="266700"/>
          </a:xfrm>
          <a:prstGeom prst="roundRect">
            <a:avLst>
              <a:gd fmla="val 21428" name="adj"/>
            </a:avLst>
          </a:prstGeom>
          <a:solidFill>
            <a:srgbClr val="DCDDD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6"/>
          <p:cNvSpPr/>
          <p:nvPr/>
        </p:nvSpPr>
        <p:spPr>
          <a:xfrm>
            <a:off x="981075" y="4425816"/>
            <a:ext cx="1047900" cy="266700"/>
          </a:xfrm>
          <a:prstGeom prst="roundRect">
            <a:avLst>
              <a:gd fmla="val 21428" name="adj"/>
            </a:avLst>
          </a:prstGeom>
          <a:solidFill>
            <a:srgbClr val="DCDDD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6"/>
          <p:cNvSpPr txBox="1"/>
          <p:nvPr/>
        </p:nvSpPr>
        <p:spPr>
          <a:xfrm>
            <a:off x="723900" y="457200"/>
            <a:ext cx="11468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BC6C25"/>
                </a:solidFill>
                <a:latin typeface="Quicksand"/>
                <a:ea typeface="Quicksand"/>
                <a:cs typeface="Quicksand"/>
                <a:sym typeface="Quicksand"/>
              </a:rPr>
              <a:t>ROADMAP AND ASK</a:t>
            </a:r>
            <a:endParaRPr/>
          </a:p>
        </p:txBody>
      </p:sp>
      <p:sp>
        <p:nvSpPr>
          <p:cNvPr id="557" name="Google Shape;557;p26"/>
          <p:cNvSpPr txBox="1"/>
          <p:nvPr/>
        </p:nvSpPr>
        <p:spPr>
          <a:xfrm>
            <a:off x="723900" y="666750"/>
            <a:ext cx="113814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rPr>
              <a:t>Our mission: AI accessible to all. Next 12 months: from pilots to paying institutions.</a:t>
            </a:r>
            <a:endParaRPr/>
          </a:p>
        </p:txBody>
      </p:sp>
      <p:sp>
        <p:nvSpPr>
          <p:cNvPr id="558" name="Google Shape;558;p26"/>
          <p:cNvSpPr txBox="1"/>
          <p:nvPr/>
        </p:nvSpPr>
        <p:spPr>
          <a:xfrm>
            <a:off x="723900" y="6324600"/>
            <a:ext cx="1881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07D74"/>
                </a:solidFill>
                <a:latin typeface="Nunito"/>
                <a:ea typeface="Nunito"/>
                <a:cs typeface="Nunito"/>
                <a:sym typeface="Nunito"/>
              </a:rPr>
              <a:t>VYOMAA LABS | PocketMind</a:t>
            </a:r>
            <a:endParaRPr/>
          </a:p>
        </p:txBody>
      </p:sp>
      <p:sp>
        <p:nvSpPr>
          <p:cNvPr id="559" name="Google Shape;559;p26"/>
          <p:cNvSpPr txBox="1"/>
          <p:nvPr/>
        </p:nvSpPr>
        <p:spPr>
          <a:xfrm>
            <a:off x="11115675" y="6324600"/>
            <a:ext cx="638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07D74"/>
                </a:solidFill>
                <a:latin typeface="Nunito"/>
                <a:ea typeface="Nunito"/>
                <a:cs typeface="Nunito"/>
                <a:sym typeface="Nunito"/>
              </a:rPr>
              <a:t>12 / 12</a:t>
            </a:r>
            <a:endParaRPr/>
          </a:p>
        </p:txBody>
      </p:sp>
      <p:sp>
        <p:nvSpPr>
          <p:cNvPr id="560" name="Google Shape;560;p26"/>
          <p:cNvSpPr txBox="1"/>
          <p:nvPr/>
        </p:nvSpPr>
        <p:spPr>
          <a:xfrm>
            <a:off x="981075" y="2078796"/>
            <a:ext cx="739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C6C25"/>
                </a:solidFill>
                <a:latin typeface="Quicksand"/>
                <a:ea typeface="Quicksand"/>
                <a:cs typeface="Quicksand"/>
                <a:sym typeface="Quicksand"/>
              </a:rPr>
              <a:t>12-month roadmap</a:t>
            </a:r>
            <a:endParaRPr/>
          </a:p>
        </p:txBody>
      </p:sp>
      <p:sp>
        <p:nvSpPr>
          <p:cNvPr id="561" name="Google Shape;561;p26"/>
          <p:cNvSpPr txBox="1"/>
          <p:nvPr/>
        </p:nvSpPr>
        <p:spPr>
          <a:xfrm>
            <a:off x="7611729" y="3274129"/>
            <a:ext cx="47505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BC6C25"/>
                </a:solidFill>
                <a:latin typeface="Quicksand"/>
                <a:ea typeface="Quicksand"/>
                <a:cs typeface="Quicksand"/>
                <a:sym typeface="Quicksand"/>
              </a:rPr>
              <a:t>DPIIT ask</a:t>
            </a:r>
            <a:endParaRPr/>
          </a:p>
        </p:txBody>
      </p:sp>
      <p:sp>
        <p:nvSpPr>
          <p:cNvPr id="562" name="Google Shape;562;p26"/>
          <p:cNvSpPr txBox="1"/>
          <p:nvPr/>
        </p:nvSpPr>
        <p:spPr>
          <a:xfrm>
            <a:off x="7611729" y="3531304"/>
            <a:ext cx="38931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3324"/>
                </a:solidFill>
                <a:latin typeface="Nunito"/>
                <a:ea typeface="Nunito"/>
                <a:cs typeface="Nunito"/>
                <a:sym typeface="Nunito"/>
              </a:rPr>
              <a:t>Startup India benefits, access to government procurement and grants, and IP support.</a:t>
            </a:r>
            <a:endParaRPr/>
          </a:p>
        </p:txBody>
      </p:sp>
      <p:sp>
        <p:nvSpPr>
          <p:cNvPr id="563" name="Google Shape;563;p26"/>
          <p:cNvSpPr txBox="1"/>
          <p:nvPr/>
        </p:nvSpPr>
        <p:spPr>
          <a:xfrm>
            <a:off x="914400" y="2606541"/>
            <a:ext cx="1181100" cy="17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strike="noStrike">
                <a:solidFill>
                  <a:srgbClr val="386641"/>
                </a:solidFill>
                <a:latin typeface="Nunito"/>
                <a:ea typeface="Nunito"/>
                <a:cs typeface="Nunito"/>
                <a:sym typeface="Nunito"/>
              </a:rPr>
              <a:t>0-3 months</a:t>
            </a:r>
            <a:endParaRPr b="1" i="0" sz="1125" u="none" strike="noStrike">
              <a:solidFill>
                <a:srgbClr val="38664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4" name="Google Shape;564;p26"/>
          <p:cNvSpPr txBox="1"/>
          <p:nvPr/>
        </p:nvSpPr>
        <p:spPr>
          <a:xfrm>
            <a:off x="2028825" y="2606541"/>
            <a:ext cx="5730000" cy="17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strike="noStrike">
                <a:solidFill>
                  <a:srgbClr val="3B4740"/>
                </a:solidFill>
                <a:latin typeface="Nunito"/>
                <a:ea typeface="Nunito"/>
                <a:cs typeface="Nunito"/>
                <a:sym typeface="Nunito"/>
              </a:rPr>
              <a:t>Harden PocketMind on mid-range phones; launch the website</a:t>
            </a:r>
            <a:endParaRPr b="0" i="0" sz="1125" u="none" strike="noStrike">
              <a:solidFill>
                <a:srgbClr val="3B474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5" name="Google Shape;565;p26"/>
          <p:cNvSpPr txBox="1"/>
          <p:nvPr/>
        </p:nvSpPr>
        <p:spPr>
          <a:xfrm>
            <a:off x="914400" y="3225666"/>
            <a:ext cx="1181100" cy="17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strike="noStrike">
                <a:solidFill>
                  <a:srgbClr val="386641"/>
                </a:solidFill>
                <a:latin typeface="Nunito"/>
                <a:ea typeface="Nunito"/>
                <a:cs typeface="Nunito"/>
                <a:sym typeface="Nunito"/>
              </a:rPr>
              <a:t>3-6 months</a:t>
            </a:r>
            <a:endParaRPr b="1" i="0" sz="1125" u="none" strike="noStrike">
              <a:solidFill>
                <a:srgbClr val="38664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6" name="Google Shape;566;p26"/>
          <p:cNvSpPr txBox="1"/>
          <p:nvPr/>
        </p:nvSpPr>
        <p:spPr>
          <a:xfrm>
            <a:off x="2028825" y="3139941"/>
            <a:ext cx="4679400" cy="346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strike="noStrike">
                <a:solidFill>
                  <a:srgbClr val="3B4740"/>
                </a:solidFill>
                <a:latin typeface="Nunito"/>
                <a:ea typeface="Nunito"/>
                <a:cs typeface="Nunito"/>
                <a:sym typeface="Nunito"/>
              </a:rPr>
              <a:t>Pilots with a school, FPO or KVK and a fleet; first letter of intent; first government pilot application</a:t>
            </a:r>
            <a:endParaRPr b="0" i="0" sz="1125" u="none" strike="noStrike">
              <a:solidFill>
                <a:srgbClr val="3B474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7" name="Google Shape;567;p26"/>
          <p:cNvSpPr txBox="1"/>
          <p:nvPr/>
        </p:nvSpPr>
        <p:spPr>
          <a:xfrm>
            <a:off x="914400" y="3844791"/>
            <a:ext cx="1181100" cy="17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strike="noStrike">
                <a:solidFill>
                  <a:srgbClr val="386641"/>
                </a:solidFill>
                <a:latin typeface="Nunito"/>
                <a:ea typeface="Nunito"/>
                <a:cs typeface="Nunito"/>
                <a:sym typeface="Nunito"/>
              </a:rPr>
              <a:t>6-9 months</a:t>
            </a:r>
            <a:endParaRPr b="1" i="0" sz="1125" u="none" strike="noStrike">
              <a:solidFill>
                <a:srgbClr val="38664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8" name="Google Shape;568;p26"/>
          <p:cNvSpPr txBox="1"/>
          <p:nvPr/>
        </p:nvSpPr>
        <p:spPr>
          <a:xfrm>
            <a:off x="2028825" y="3844791"/>
            <a:ext cx="5730000" cy="17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strike="noStrike">
                <a:solidFill>
                  <a:srgbClr val="3B4740"/>
                </a:solidFill>
                <a:latin typeface="Nunito"/>
                <a:ea typeface="Nunito"/>
                <a:cs typeface="Nunito"/>
                <a:sym typeface="Nunito"/>
              </a:rPr>
              <a:t>First paying institutional customers; local-language packs</a:t>
            </a:r>
            <a:endParaRPr b="0" i="0" sz="1125" u="none" strike="noStrike">
              <a:solidFill>
                <a:srgbClr val="3B474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9" name="Google Shape;569;p26"/>
          <p:cNvSpPr txBox="1"/>
          <p:nvPr/>
        </p:nvSpPr>
        <p:spPr>
          <a:xfrm>
            <a:off x="914400" y="4463916"/>
            <a:ext cx="1181100" cy="17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strike="noStrike">
                <a:solidFill>
                  <a:srgbClr val="386641"/>
                </a:solidFill>
                <a:latin typeface="Nunito"/>
                <a:ea typeface="Nunito"/>
                <a:cs typeface="Nunito"/>
                <a:sym typeface="Nunito"/>
              </a:rPr>
              <a:t>9-12 months</a:t>
            </a:r>
            <a:endParaRPr b="1" i="0" sz="1125" u="none" strike="noStrike">
              <a:solidFill>
                <a:srgbClr val="38664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0" name="Google Shape;570;p26"/>
          <p:cNvSpPr txBox="1"/>
          <p:nvPr/>
        </p:nvSpPr>
        <p:spPr>
          <a:xfrm>
            <a:off x="2028825" y="4455407"/>
            <a:ext cx="5730000" cy="17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strike="noStrike">
                <a:solidFill>
                  <a:srgbClr val="3B4740"/>
                </a:solidFill>
                <a:latin typeface="Nunito"/>
                <a:ea typeface="Nunito"/>
                <a:cs typeface="Nunito"/>
                <a:sym typeface="Nunito"/>
              </a:rPr>
              <a:t>Expand to more districts and states; seed or grant funding</a:t>
            </a:r>
            <a:endParaRPr b="0" i="0" sz="1125" u="none" strike="noStrike">
              <a:solidFill>
                <a:srgbClr val="3B474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7"/>
          <p:cNvSpPr txBox="1"/>
          <p:nvPr/>
        </p:nvSpPr>
        <p:spPr>
          <a:xfrm>
            <a:off x="723900" y="457200"/>
            <a:ext cx="10744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BC6C25"/>
                </a:solidFill>
                <a:latin typeface="Quicksand"/>
                <a:ea typeface="Quicksand"/>
                <a:cs typeface="Quicksand"/>
                <a:sym typeface="Quicksand"/>
              </a:rPr>
              <a:t>DEMO &amp; RESOURCES</a:t>
            </a:r>
            <a:endParaRPr b="1" sz="975">
              <a:solidFill>
                <a:srgbClr val="BC6C2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576" name="Google Shape;576;p27"/>
          <p:cNvSpPr txBox="1"/>
          <p:nvPr/>
        </p:nvSpPr>
        <p:spPr>
          <a:xfrm>
            <a:off x="723900" y="685800"/>
            <a:ext cx="107442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rPr>
              <a:t>See it live: Everything in this deck, interactive</a:t>
            </a:r>
            <a:endParaRPr b="1" sz="2550">
              <a:solidFill>
                <a:srgbClr val="1E3324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577" name="Google Shape;577;p27"/>
          <p:cNvGrpSpPr/>
          <p:nvPr/>
        </p:nvGrpSpPr>
        <p:grpSpPr>
          <a:xfrm>
            <a:off x="723900" y="1619250"/>
            <a:ext cx="5219700" cy="2667000"/>
            <a:chOff x="0" y="0"/>
            <a:chExt cx="5219700" cy="2667000"/>
          </a:xfrm>
        </p:grpSpPr>
        <p:sp>
          <p:nvSpPr>
            <p:cNvPr id="578" name="Google Shape;578;p27"/>
            <p:cNvSpPr/>
            <p:nvPr/>
          </p:nvSpPr>
          <p:spPr>
            <a:xfrm>
              <a:off x="0" y="0"/>
              <a:ext cx="5219700" cy="2667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3DEC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79" name="Google Shape;579;p27"/>
            <p:cNvGrpSpPr/>
            <p:nvPr/>
          </p:nvGrpSpPr>
          <p:grpSpPr>
            <a:xfrm>
              <a:off x="266700" y="228600"/>
              <a:ext cx="952500" cy="209700"/>
              <a:chOff x="0" y="0"/>
              <a:chExt cx="952500" cy="209700"/>
            </a:xfrm>
          </p:grpSpPr>
          <p:pic>
            <p:nvPicPr>
              <p:cNvPr id="580" name="Google Shape;580;p2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0" y="0"/>
                <a:ext cx="952500" cy="209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81" name="Google Shape;581;p27"/>
              <p:cNvSpPr txBox="1"/>
              <p:nvPr/>
            </p:nvSpPr>
            <p:spPr>
              <a:xfrm>
                <a:off x="76200" y="28575"/>
                <a:ext cx="800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50">
                    <a:solidFill>
                      <a:srgbClr val="2E7D32"/>
                    </a:solidFill>
                    <a:latin typeface="Nunito"/>
                    <a:ea typeface="Nunito"/>
                    <a:cs typeface="Nunito"/>
                    <a:sym typeface="Nunito"/>
                  </a:rPr>
                  <a:t>INTERACTIVE</a:t>
                </a:r>
                <a:endParaRPr b="1" sz="850">
                  <a:solidFill>
                    <a:srgbClr val="2E7D32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sp>
          <p:nvSpPr>
            <p:cNvPr id="582" name="Google Shape;582;p27"/>
            <p:cNvSpPr txBox="1"/>
            <p:nvPr/>
          </p:nvSpPr>
          <p:spPr>
            <a:xfrm>
              <a:off x="266700" y="552450"/>
              <a:ext cx="4686300" cy="3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E3324"/>
                  </a:solidFill>
                  <a:latin typeface="Quicksand"/>
                  <a:ea typeface="Quicksand"/>
                  <a:cs typeface="Quicksand"/>
                  <a:sym typeface="Quicksand"/>
                </a:rPr>
                <a:t>Full Product Site</a:t>
              </a:r>
              <a:endParaRPr b="1" sz="1500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583" name="Google Shape;583;p27"/>
            <p:cNvSpPr txBox="1"/>
            <p:nvPr/>
          </p:nvSpPr>
          <p:spPr>
            <a:xfrm>
              <a:off x="266700" y="876300"/>
              <a:ext cx="4686300" cy="914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B4740"/>
                  </a:solidFill>
                  <a:latin typeface="Nunito"/>
                  <a:ea typeface="Nunito"/>
                  <a:cs typeface="Nunito"/>
                  <a:sym typeface="Nunito"/>
                </a:rPr>
                <a:t>Explore full architecture breakdown, live on-device demo recordings, measured performance metrics, and in-depth reliability notes.</a:t>
              </a:r>
              <a:endParaRPr b="0" sz="1100">
                <a:solidFill>
                  <a:srgbClr val="3B474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grpSp>
          <p:nvGrpSpPr>
            <p:cNvPr id="584" name="Google Shape;584;p27"/>
            <p:cNvGrpSpPr/>
            <p:nvPr/>
          </p:nvGrpSpPr>
          <p:grpSpPr>
            <a:xfrm>
              <a:off x="266700" y="2095500"/>
              <a:ext cx="4686300" cy="342900"/>
              <a:chOff x="0" y="0"/>
              <a:chExt cx="4686300" cy="342900"/>
            </a:xfrm>
          </p:grpSpPr>
          <p:sp>
            <p:nvSpPr>
              <p:cNvPr id="585" name="Google Shape;585;p27"/>
              <p:cNvSpPr/>
              <p:nvPr/>
            </p:nvSpPr>
            <p:spPr>
              <a:xfrm>
                <a:off x="0" y="0"/>
                <a:ext cx="4686300" cy="342900"/>
              </a:xfrm>
              <a:prstGeom prst="roundRect">
                <a:avLst>
                  <a:gd fmla="val 22222" name="adj"/>
                </a:avLst>
              </a:prstGeom>
              <a:solidFill>
                <a:srgbClr val="F2EDE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27"/>
              <p:cNvSpPr txBox="1"/>
              <p:nvPr/>
            </p:nvSpPr>
            <p:spPr>
              <a:xfrm>
                <a:off x="152400" y="76200"/>
                <a:ext cx="4381500" cy="190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 u="sng">
                    <a:solidFill>
                      <a:srgbClr val="BC6C25"/>
                    </a:solidFill>
                    <a:latin typeface="Nunito"/>
                    <a:ea typeface="Nunito"/>
                    <a:cs typeface="Nunito"/>
                    <a:sym typeface="Nunito"/>
                  </a:rPr>
                  <a:t>vyomaalabs.github.io/pocketmind</a:t>
                </a:r>
                <a:endParaRPr b="1" sz="1100">
                  <a:solidFill>
                    <a:srgbClr val="BC6C25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</p:grpSp>
      <p:grpSp>
        <p:nvGrpSpPr>
          <p:cNvPr id="587" name="Google Shape;587;p27"/>
          <p:cNvGrpSpPr/>
          <p:nvPr/>
        </p:nvGrpSpPr>
        <p:grpSpPr>
          <a:xfrm>
            <a:off x="6248400" y="1619250"/>
            <a:ext cx="5219700" cy="2667000"/>
            <a:chOff x="0" y="0"/>
            <a:chExt cx="5219700" cy="2667000"/>
          </a:xfrm>
        </p:grpSpPr>
        <p:sp>
          <p:nvSpPr>
            <p:cNvPr id="588" name="Google Shape;588;p27"/>
            <p:cNvSpPr/>
            <p:nvPr/>
          </p:nvSpPr>
          <p:spPr>
            <a:xfrm>
              <a:off x="0" y="0"/>
              <a:ext cx="5219700" cy="2667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3DEC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89" name="Google Shape;589;p27"/>
            <p:cNvGrpSpPr/>
            <p:nvPr/>
          </p:nvGrpSpPr>
          <p:grpSpPr>
            <a:xfrm>
              <a:off x="266700" y="228600"/>
              <a:ext cx="762000" cy="209700"/>
              <a:chOff x="0" y="0"/>
              <a:chExt cx="762000" cy="209700"/>
            </a:xfrm>
          </p:grpSpPr>
          <p:pic>
            <p:nvPicPr>
              <p:cNvPr id="590" name="Google Shape;590;p2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0" y="0"/>
                <a:ext cx="762000" cy="209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1" name="Google Shape;591;p27"/>
              <p:cNvSpPr txBox="1"/>
              <p:nvPr/>
            </p:nvSpPr>
            <p:spPr>
              <a:xfrm>
                <a:off x="76200" y="28575"/>
                <a:ext cx="6096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50">
                    <a:solidFill>
                      <a:srgbClr val="2E7D32"/>
                    </a:solidFill>
                    <a:latin typeface="Nunito"/>
                    <a:ea typeface="Nunito"/>
                    <a:cs typeface="Nunito"/>
                    <a:sym typeface="Nunito"/>
                  </a:rPr>
                  <a:t>VIDEO</a:t>
                </a:r>
                <a:endParaRPr b="1" sz="850">
                  <a:solidFill>
                    <a:srgbClr val="2E7D32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sp>
          <p:nvSpPr>
            <p:cNvPr id="592" name="Google Shape;592;p27"/>
            <p:cNvSpPr txBox="1"/>
            <p:nvPr/>
          </p:nvSpPr>
          <p:spPr>
            <a:xfrm>
              <a:off x="266700" y="552450"/>
              <a:ext cx="4686300" cy="3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E3324"/>
                  </a:solidFill>
                  <a:latin typeface="Quicksand"/>
                  <a:ea typeface="Quicksand"/>
                  <a:cs typeface="Quicksand"/>
                  <a:sym typeface="Quicksand"/>
                </a:rPr>
                <a:t>Full Demo Video</a:t>
              </a:r>
              <a:endParaRPr b="1" sz="1500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593" name="Google Shape;593;p27"/>
            <p:cNvSpPr txBox="1"/>
            <p:nvPr/>
          </p:nvSpPr>
          <p:spPr>
            <a:xfrm>
              <a:off x="266700" y="876300"/>
              <a:ext cx="4686300" cy="914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B4740"/>
                  </a:solidFill>
                  <a:latin typeface="Nunito"/>
                  <a:ea typeface="Nunito"/>
                  <a:cs typeface="Nunito"/>
                  <a:sym typeface="Nunito"/>
                </a:rPr>
                <a:t>Watch core tools in action with a complete, narrated walkthrough detailing the underlying system architecture.</a:t>
              </a:r>
              <a:endParaRPr b="0" sz="1100">
                <a:solidFill>
                  <a:srgbClr val="3B474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grpSp>
          <p:nvGrpSpPr>
            <p:cNvPr id="594" name="Google Shape;594;p27"/>
            <p:cNvGrpSpPr/>
            <p:nvPr/>
          </p:nvGrpSpPr>
          <p:grpSpPr>
            <a:xfrm>
              <a:off x="266700" y="2095500"/>
              <a:ext cx="4686300" cy="342900"/>
              <a:chOff x="0" y="0"/>
              <a:chExt cx="4686300" cy="342900"/>
            </a:xfrm>
          </p:grpSpPr>
          <p:sp>
            <p:nvSpPr>
              <p:cNvPr id="595" name="Google Shape;595;p27"/>
              <p:cNvSpPr/>
              <p:nvPr/>
            </p:nvSpPr>
            <p:spPr>
              <a:xfrm>
                <a:off x="0" y="0"/>
                <a:ext cx="4686300" cy="342900"/>
              </a:xfrm>
              <a:prstGeom prst="roundRect">
                <a:avLst>
                  <a:gd fmla="val 22222" name="adj"/>
                </a:avLst>
              </a:prstGeom>
              <a:solidFill>
                <a:srgbClr val="F2EDE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" name="Google Shape;596;p27"/>
              <p:cNvSpPr txBox="1"/>
              <p:nvPr/>
            </p:nvSpPr>
            <p:spPr>
              <a:xfrm>
                <a:off x="152400" y="76200"/>
                <a:ext cx="4381500" cy="190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 u="sng">
                    <a:solidFill>
                      <a:srgbClr val="BC6C25"/>
                    </a:solidFill>
                    <a:latin typeface="Nunito"/>
                    <a:ea typeface="Nunito"/>
                    <a:cs typeface="Nunito"/>
                    <a:sym typeface="Nunito"/>
                  </a:rPr>
                  <a:t>vyomaalabs.github.io/pocketmind/media/demo-full-narrated.mp4</a:t>
                </a:r>
                <a:endParaRPr b="1" sz="1050">
                  <a:solidFill>
                    <a:srgbClr val="BC6C25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</p:grpSp>
      <p:grpSp>
        <p:nvGrpSpPr>
          <p:cNvPr id="597" name="Google Shape;597;p27"/>
          <p:cNvGrpSpPr/>
          <p:nvPr/>
        </p:nvGrpSpPr>
        <p:grpSpPr>
          <a:xfrm>
            <a:off x="723900" y="4572000"/>
            <a:ext cx="10744200" cy="1143000"/>
            <a:chOff x="0" y="0"/>
            <a:chExt cx="10744200" cy="1143000"/>
          </a:xfrm>
        </p:grpSpPr>
        <p:sp>
          <p:nvSpPr>
            <p:cNvPr id="598" name="Google Shape;598;p27"/>
            <p:cNvSpPr/>
            <p:nvPr/>
          </p:nvSpPr>
          <p:spPr>
            <a:xfrm>
              <a:off x="0" y="0"/>
              <a:ext cx="10744200" cy="1143000"/>
            </a:xfrm>
            <a:prstGeom prst="roundRect">
              <a:avLst>
                <a:gd fmla="val 11666" name="adj"/>
              </a:avLst>
            </a:prstGeom>
            <a:solidFill>
              <a:srgbClr val="F2EDE4"/>
            </a:solidFill>
            <a:ln cap="flat" cmpd="sng" w="9525">
              <a:solidFill>
                <a:srgbClr val="E3DEC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27"/>
            <p:cNvSpPr txBox="1"/>
            <p:nvPr/>
          </p:nvSpPr>
          <p:spPr>
            <a:xfrm>
              <a:off x="304800" y="285750"/>
              <a:ext cx="10134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3324"/>
                  </a:solidFill>
                  <a:latin typeface="Quicksand"/>
                  <a:ea typeface="Quicksand"/>
                  <a:cs typeface="Quicksand"/>
                  <a:sym typeface="Quicksand"/>
                </a:rPr>
                <a:t>VYOMAA LABS · AI in every hand, for a future-ready India.</a:t>
              </a:r>
              <a:endParaRPr b="1" sz="1800">
                <a:solidFill>
                  <a:srgbClr val="1E3324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cxnSp>
        <p:nvCxnSpPr>
          <p:cNvPr id="600" name="Google Shape;600;p27"/>
          <p:cNvCxnSpPr/>
          <p:nvPr/>
        </p:nvCxnSpPr>
        <p:spPr>
          <a:xfrm>
            <a:off x="723900" y="6200775"/>
            <a:ext cx="107442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3DE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1" name="Google Shape;601;p27"/>
          <p:cNvSpPr txBox="1"/>
          <p:nvPr/>
        </p:nvSpPr>
        <p:spPr>
          <a:xfrm>
            <a:off x="723900" y="6324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707D74"/>
                </a:solidFill>
                <a:latin typeface="Nunito"/>
                <a:ea typeface="Nunito"/>
                <a:cs typeface="Nunito"/>
                <a:sym typeface="Nunito"/>
              </a:rPr>
              <a:t>VYOMAA LABS · PocketMind</a:t>
            </a:r>
            <a:endParaRPr b="0" sz="900">
              <a:solidFill>
                <a:srgbClr val="707D7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